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9144000" cy="16256000"/>
  <p:embeddedFontLst>
    <p:embeddedFont>
      <p:font typeface="Liter" panose="020B0604020202020204" charset="0"/>
      <p:regular r:id="rId23"/>
    </p:embeddedFont>
    <p:embeddedFont>
      <p:font typeface="Quattrocento Sans" panose="020B0502050000020003" pitchFamily="34" charset="0"/>
      <p:regular r:id="rId24"/>
      <p:bold r:id="rId2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917"/>
                </a:solidFill>
                <a:latin typeface="Arial"/>
              </a:rPr>
              <a:t>Indicateurs de qualité (Avant → Après)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7871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Doublons</c:v>
                </c:pt>
                <c:pt idx="1">
                  <c:v>Emails inv.</c:v>
                </c:pt>
                <c:pt idx="2">
                  <c:v>Prix nég.</c:v>
                </c:pt>
                <c:pt idx="3">
                  <c:v>Statuts</c:v>
                </c:pt>
                <c:pt idx="4">
                  <c:v>Villes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70</c:v>
                </c:pt>
                <c:pt idx="2">
                  <c:v>5</c:v>
                </c:pt>
                <c:pt idx="3">
                  <c:v>12</c:v>
                </c:pt>
                <c:pt idx="4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47-4A8D-85F7-7A9DF1B70D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Doublons</c:v>
                </c:pt>
                <c:pt idx="1">
                  <c:v>Emails inv.</c:v>
                </c:pt>
                <c:pt idx="2">
                  <c:v>Prix nég.</c:v>
                </c:pt>
                <c:pt idx="3">
                  <c:v>Statuts</c:v>
                </c:pt>
                <c:pt idx="4">
                  <c:v>Villes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</c:v>
                </c:pt>
                <c:pt idx="4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47-4A8D-85F7-7A9DF1B70D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9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(MAD millions)</c:v>
                </c:pt>
              </c:strCache>
            </c:strRef>
          </c:tx>
          <c:spPr>
            <a:ln w="25400" cap="flat">
              <a:solidFill>
                <a:srgbClr val="0F4C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4C4F"/>
              </a:solidFill>
              <a:ln w="9525" cap="flat">
                <a:solidFill>
                  <a:srgbClr val="0F4C4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Jan 24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  <c:pt idx="12">
                  <c:v>Jan 25</c:v>
                </c:pt>
                <c:pt idx="13">
                  <c:v>Fév</c:v>
                </c:pt>
                <c:pt idx="14">
                  <c:v>Mar</c:v>
                </c:pt>
                <c:pt idx="15">
                  <c:v>Avr</c:v>
                </c:pt>
                <c:pt idx="16">
                  <c:v>Mai</c:v>
                </c:pt>
                <c:pt idx="17">
                  <c:v>Juin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4.2</c:v>
                </c:pt>
                <c:pt idx="1">
                  <c:v>3.8</c:v>
                </c:pt>
                <c:pt idx="2">
                  <c:v>5.0999999999999996</c:v>
                </c:pt>
                <c:pt idx="3">
                  <c:v>4.5</c:v>
                </c:pt>
                <c:pt idx="4">
                  <c:v>5.8</c:v>
                </c:pt>
                <c:pt idx="5">
                  <c:v>6.2</c:v>
                </c:pt>
                <c:pt idx="6">
                  <c:v>5.5</c:v>
                </c:pt>
                <c:pt idx="7">
                  <c:v>4.9000000000000004</c:v>
                </c:pt>
                <c:pt idx="8">
                  <c:v>6.5</c:v>
                </c:pt>
                <c:pt idx="9">
                  <c:v>7.8</c:v>
                </c:pt>
                <c:pt idx="10">
                  <c:v>9.1999999999999993</c:v>
                </c:pt>
                <c:pt idx="11">
                  <c:v>10.5</c:v>
                </c:pt>
                <c:pt idx="12">
                  <c:v>8.9</c:v>
                </c:pt>
                <c:pt idx="13">
                  <c:v>7.2</c:v>
                </c:pt>
                <c:pt idx="14">
                  <c:v>9.5</c:v>
                </c:pt>
                <c:pt idx="15">
                  <c:v>6.8</c:v>
                </c:pt>
                <c:pt idx="16">
                  <c:v>7.5</c:v>
                </c:pt>
                <c:pt idx="17">
                  <c:v>8.1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3D0-4316-B8C4-8FAA559BA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CA (MAD 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(MAD M)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Salé</c:v>
                </c:pt>
                <c:pt idx="1">
                  <c:v>Meknès</c:v>
                </c:pt>
                <c:pt idx="2">
                  <c:v>Casablanca</c:v>
                </c:pt>
                <c:pt idx="3">
                  <c:v>Fès</c:v>
                </c:pt>
                <c:pt idx="4">
                  <c:v>Marrakech</c:v>
                </c:pt>
                <c:pt idx="5">
                  <c:v>Tanger</c:v>
                </c:pt>
                <c:pt idx="6">
                  <c:v>Tétouan</c:v>
                </c:pt>
                <c:pt idx="7">
                  <c:v>Essaouira</c:v>
                </c:pt>
                <c:pt idx="8">
                  <c:v>Kénitra</c:v>
                </c:pt>
                <c:pt idx="9">
                  <c:v>Agadir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5.4</c:v>
                </c:pt>
                <c:pt idx="1">
                  <c:v>5.0999999999999996</c:v>
                </c:pt>
                <c:pt idx="2">
                  <c:v>2.9</c:v>
                </c:pt>
                <c:pt idx="3">
                  <c:v>2.8</c:v>
                </c:pt>
                <c:pt idx="4">
                  <c:v>2.5</c:v>
                </c:pt>
                <c:pt idx="5">
                  <c:v>2.1</c:v>
                </c:pt>
                <c:pt idx="6">
                  <c:v>2.1</c:v>
                </c:pt>
                <c:pt idx="7">
                  <c:v>1.9</c:v>
                </c:pt>
                <c:pt idx="8">
                  <c:v>1.9</c:v>
                </c:pt>
                <c:pt idx="9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E3-42FA-AB63-D52B1CC470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9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BE-44BF-8B95-4E372C07666A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BE-44BF-8B95-4E372C07666A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6BE-44BF-8B95-4E372C07666A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BE-44BF-8B95-4E372C07666A}"/>
              </c:ext>
            </c:extLst>
          </c:dPt>
          <c:dPt>
            <c:idx val="4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BE-44BF-8B95-4E372C07666A}"/>
              </c:ext>
            </c:extLst>
          </c:dPt>
          <c:dPt>
            <c:idx val="5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6BE-44BF-8B95-4E372C07666A}"/>
              </c:ext>
            </c:extLst>
          </c:dPt>
          <c:dPt>
            <c:idx val="6"/>
            <c:bubble3D val="0"/>
            <c:spPr>
              <a:solidFill>
                <a:srgbClr val="115E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6BE-44BF-8B95-4E372C0766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BE-44BF-8B95-4E372C0766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BE-44BF-8B95-4E372C0766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6BE-44BF-8B95-4E372C07666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6BE-44BF-8B95-4E372C07666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6BE-44BF-8B95-4E372C07666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6BE-44BF-8B95-4E372C07666A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6BE-44BF-8B95-4E372C0766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Accessoires</c:v>
                </c:pt>
                <c:pt idx="1">
                  <c:v>Gaming</c:v>
                </c:pt>
                <c:pt idx="2">
                  <c:v>Laptops</c:v>
                </c:pt>
                <c:pt idx="3">
                  <c:v>TV &amp; Audio</c:v>
                </c:pt>
                <c:pt idx="4">
                  <c:v>Smartphones</c:v>
                </c:pt>
                <c:pt idx="5">
                  <c:v>Montres</c:v>
                </c:pt>
                <c:pt idx="6">
                  <c:v>Tablets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22.6</c:v>
                </c:pt>
                <c:pt idx="1">
                  <c:v>19.600000000000001</c:v>
                </c:pt>
                <c:pt idx="2">
                  <c:v>14.5</c:v>
                </c:pt>
                <c:pt idx="3">
                  <c:v>11.7</c:v>
                </c:pt>
                <c:pt idx="4">
                  <c:v>9.6</c:v>
                </c:pt>
                <c:pt idx="5">
                  <c:v>5.8</c:v>
                </c:pt>
                <c:pt idx="6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6BE-44BF-8B95-4E372C076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Commandes</c:v>
                </c:pt>
              </c:strCache>
            </c:strRef>
          </c:tx>
          <c:spPr>
            <a:solidFill>
              <a:srgbClr val="0F4C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Credit Card</c:v>
                </c:pt>
                <c:pt idx="1">
                  <c:v>Crypto</c:v>
                </c:pt>
                <c:pt idx="2">
                  <c:v>PayPal</c:v>
                </c:pt>
                <c:pt idx="3">
                  <c:v>Cash on Del.</c:v>
                </c:pt>
                <c:pt idx="4">
                  <c:v>Cheque</c:v>
                </c:pt>
                <c:pt idx="5">
                  <c:v>Bank Transf.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657</c:v>
                </c:pt>
                <c:pt idx="1">
                  <c:v>277</c:v>
                </c:pt>
                <c:pt idx="2">
                  <c:v>273</c:v>
                </c:pt>
                <c:pt idx="3">
                  <c:v>272</c:v>
                </c:pt>
                <c:pt idx="4">
                  <c:v>267</c:v>
                </c:pt>
                <c:pt idx="5">
                  <c:v>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2-4553-B932-F834C55D7A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9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16-41E4-8DA5-C50E62B1CC50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16-41E4-8DA5-C50E62B1CC5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16-41E4-8DA5-C50E62B1CC5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16-41E4-8DA5-C50E62B1CC5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Hommes</c:v>
                </c:pt>
                <c:pt idx="1">
                  <c:v>Femmes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16-41E4-8DA5-C50E62B1CC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91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C1917"/>
                </a:solidFill>
                <a:latin typeface="Arial"/>
              </a:rPr>
              <a:t>Répartition des 490 Clients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A32-4867-AFB2-5949FAE32A8C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32-4867-AFB2-5949FAE32A8C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32-4867-AFB2-5949FAE32A8C}"/>
              </c:ext>
            </c:extLst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32-4867-AFB2-5949FAE32A8C}"/>
              </c:ext>
            </c:extLst>
          </c:dPt>
          <c:dPt>
            <c:idx val="4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A32-4867-AFB2-5949FAE32A8C}"/>
              </c:ext>
            </c:extLst>
          </c:dPt>
          <c:dPt>
            <c:idx val="5"/>
            <c:bubble3D val="0"/>
            <c:spPr>
              <a:solidFill>
                <a:srgbClr val="787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A32-4867-AFB2-5949FAE32A8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32-4867-AFB2-5949FAE32A8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32-4867-AFB2-5949FAE32A8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A32-4867-AFB2-5949FAE32A8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A32-4867-AFB2-5949FAE32A8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A32-4867-AFB2-5949FAE32A8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A32-4867-AFB2-5949FAE32A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Clients fidèles</c:v>
                </c:pt>
                <c:pt idx="1">
                  <c:v>Clients récents</c:v>
                </c:pt>
                <c:pt idx="2">
                  <c:v>Champions</c:v>
                </c:pt>
                <c:pt idx="3">
                  <c:v>Clients en risque</c:v>
                </c:pt>
                <c:pt idx="4">
                  <c:v>Gros dépensiers</c:v>
                </c:pt>
                <c:pt idx="5">
                  <c:v>Clients perdus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95</c:v>
                </c:pt>
                <c:pt idx="2">
                  <c:v>85</c:v>
                </c:pt>
                <c:pt idx="3">
                  <c:v>75</c:v>
                </c:pt>
                <c:pt idx="4">
                  <c:v>65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A32-4867-AFB2-5949FAE32A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8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0" y="0"/>
            <a:ext cx="2286000" cy="2286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620000"/>
            <a:ext cx="1524000" cy="1524000"/>
          </a:xfrm>
          <a:prstGeom prst="ellipse">
            <a:avLst/>
          </a:prstGeom>
          <a:solidFill>
            <a:srgbClr val="14B8A6">
              <a:alpha val="313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40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OPTIMISATION DES VENTES ET FIDÉLISATION CLIENT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032000" y="4191000"/>
            <a:ext cx="1219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 TALEND + MODÉLISATION STAR SCHEMA + SEGMENTATION RFM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0" y="4953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5334000"/>
            <a:ext cx="1219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Taoufik Mammad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32000" y="5905500"/>
            <a:ext cx="1219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Cité des métiers et des compétences Nouaceur – Casablanca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0" y="6413500"/>
            <a:ext cx="1219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03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78000" y="2057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78000" y="24638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 e-commerce, objectifs et méthodologie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6604000" cy="0"/>
          </a:xfrm>
          <a:prstGeom prst="straightConnector1">
            <a:avLst/>
          </a:prstGeom>
          <a:noFill/>
          <a:ln w="12700">
            <a:solidFill>
              <a:srgbClr val="D6D3D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342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78000" y="3454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78000" y="38608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 Star Schema et outils technologiques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4445000"/>
            <a:ext cx="6604000" cy="0"/>
          </a:xfrm>
          <a:prstGeom prst="straightConnector1">
            <a:avLst/>
          </a:prstGeom>
          <a:noFill/>
          <a:ln w="12700">
            <a:solidFill>
              <a:srgbClr val="D6D3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482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78000" y="4851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ETL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78000" y="52578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sources, processus ETL et qualité des données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5842000"/>
            <a:ext cx="6604000" cy="0"/>
          </a:xfrm>
          <a:prstGeom prst="straightConnector1">
            <a:avLst/>
          </a:prstGeom>
          <a:noFill/>
          <a:ln w="12700">
            <a:solidFill>
              <a:srgbClr val="D6D3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382000" y="203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98000" y="2057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&amp; Insights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98000" y="24638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KPIs, analyses multidimensionnelles et segmentation RFM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82000" y="3048000"/>
            <a:ext cx="6604000" cy="0"/>
          </a:xfrm>
          <a:prstGeom prst="straightConnector1">
            <a:avLst/>
          </a:prstGeom>
          <a:noFill/>
          <a:ln w="12700">
            <a:solidFill>
              <a:srgbClr val="D6D3D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382000" y="342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98000" y="3454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Recommandations Stratégiques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98000" y="38608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chiffrées et impact estimé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82000" y="4445000"/>
            <a:ext cx="6604000" cy="0"/>
          </a:xfrm>
          <a:prstGeom prst="straightConnector1">
            <a:avLst/>
          </a:prstGeom>
          <a:noFill/>
          <a:ln w="12700">
            <a:solidFill>
              <a:srgbClr val="D6D3D1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382000" y="482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398000" y="4851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&amp; Perspectives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98000" y="52578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Limites du projet et axes d'amélioration futurs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82000" y="5842000"/>
            <a:ext cx="6604000" cy="0"/>
          </a:xfrm>
          <a:prstGeom prst="straightConnector1">
            <a:avLst/>
          </a:prstGeom>
          <a:noFill/>
          <a:ln w="12700">
            <a:solidFill>
              <a:srgbClr val="D6D3D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62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397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 du e-commerce marocain, objectifs et méthodologie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Text 1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Objectifs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2000" y="190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marocain</a:t>
            </a: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dépassé </a:t>
            </a: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milliards MAD</a:t>
            </a: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transactions en 2024, en hausse de </a:t>
            </a: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+35%</a:t>
            </a: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 rapport à l'année précédente </a:t>
            </a:r>
            <a:r>
              <a:rPr lang="en-US" sz="16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(source CMI)</a:t>
            </a: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TechMaroc Store</a:t>
            </a: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 un e-commerce fictif spécialisé en électronique : smartphones, laptops, tablettes, accessoires, TV, gaming et montres connectées.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0" y="1981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112306"/>
                </a:moveTo>
                <a:cubicBezTo>
                  <a:pt x="270170" y="117654"/>
                  <a:pt x="259568" y="121965"/>
                  <a:pt x="248529" y="125403"/>
                </a:cubicBezTo>
                <a:cubicBezTo>
                  <a:pt x="219217" y="134570"/>
                  <a:pt x="180737" y="139700"/>
                  <a:pt x="139700" y="139700"/>
                </a:cubicBezTo>
                <a:cubicBezTo>
                  <a:pt x="98663" y="139700"/>
                  <a:pt x="60121" y="134516"/>
                  <a:pt x="30871" y="125403"/>
                </a:cubicBezTo>
                <a:cubicBezTo>
                  <a:pt x="19895" y="121965"/>
                  <a:pt x="9230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62553" y="200819"/>
                  <a:pt x="139700" y="200819"/>
                </a:cubicBezTo>
                <a:cubicBezTo>
                  <a:pt x="216847" y="200819"/>
                  <a:pt x="279400" y="181283"/>
                  <a:pt x="279400" y="157163"/>
                </a:cubicBezTo>
                <a:lnTo>
                  <a:pt x="279400" y="112306"/>
                </a:lnTo>
                <a:close/>
                <a:moveTo>
                  <a:pt x="279400" y="69850"/>
                </a:moveTo>
                <a:lnTo>
                  <a:pt x="279400" y="43656"/>
                </a:lnTo>
                <a:cubicBezTo>
                  <a:pt x="279400" y="19536"/>
                  <a:pt x="216847" y="0"/>
                  <a:pt x="139700" y="0"/>
                </a:cubicBezTo>
                <a:cubicBezTo>
                  <a:pt x="62553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62553" y="113506"/>
                  <a:pt x="139700" y="113506"/>
                </a:cubicBezTo>
                <a:cubicBezTo>
                  <a:pt x="216847" y="113506"/>
                  <a:pt x="279400" y="93970"/>
                  <a:pt x="279400" y="69850"/>
                </a:cubicBezTo>
                <a:close/>
                <a:moveTo>
                  <a:pt x="248529" y="212715"/>
                </a:moveTo>
                <a:cubicBezTo>
                  <a:pt x="219279" y="221828"/>
                  <a:pt x="180799" y="227013"/>
                  <a:pt x="139700" y="227013"/>
                </a:cubicBezTo>
                <a:cubicBezTo>
                  <a:pt x="98601" y="227013"/>
                  <a:pt x="60121" y="221828"/>
                  <a:pt x="30871" y="212715"/>
                </a:cubicBezTo>
                <a:cubicBezTo>
                  <a:pt x="19895" y="209277"/>
                  <a:pt x="9230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62553" y="279400"/>
                  <a:pt x="139700" y="279400"/>
                </a:cubicBezTo>
                <a:cubicBezTo>
                  <a:pt x="216847" y="279400"/>
                  <a:pt x="279400" y="259864"/>
                  <a:pt x="279400" y="235744"/>
                </a:cubicBezTo>
                <a:lnTo>
                  <a:pt x="279400" y="199618"/>
                </a:lnTo>
                <a:cubicBezTo>
                  <a:pt x="270170" y="204966"/>
                  <a:pt x="259568" y="209277"/>
                  <a:pt x="248529" y="212715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19431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Processus ETL complet avec Talend Open Studio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000" y="2387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4840" y="29795"/>
                </a:moveTo>
                <a:cubicBezTo>
                  <a:pt x="280904" y="22974"/>
                  <a:pt x="280904" y="11896"/>
                  <a:pt x="274840" y="5075"/>
                </a:cubicBezTo>
                <a:cubicBezTo>
                  <a:pt x="268777" y="-1746"/>
                  <a:pt x="258930" y="-1746"/>
                  <a:pt x="252867" y="5075"/>
                </a:cubicBezTo>
                <a:lnTo>
                  <a:pt x="159733" y="109850"/>
                </a:lnTo>
                <a:lnTo>
                  <a:pt x="142901" y="90914"/>
                </a:lnTo>
                <a:cubicBezTo>
                  <a:pt x="140864" y="88622"/>
                  <a:pt x="138051" y="87313"/>
                  <a:pt x="135140" y="87313"/>
                </a:cubicBezTo>
                <a:cubicBezTo>
                  <a:pt x="129077" y="87313"/>
                  <a:pt x="124178" y="92824"/>
                  <a:pt x="124178" y="99645"/>
                </a:cubicBezTo>
                <a:lnTo>
                  <a:pt x="124178" y="115525"/>
                </a:lnTo>
                <a:lnTo>
                  <a:pt x="176711" y="174625"/>
                </a:lnTo>
                <a:lnTo>
                  <a:pt x="190826" y="174625"/>
                </a:lnTo>
                <a:cubicBezTo>
                  <a:pt x="196890" y="174625"/>
                  <a:pt x="201789" y="169113"/>
                  <a:pt x="201789" y="162292"/>
                </a:cubicBezTo>
                <a:cubicBezTo>
                  <a:pt x="201789" y="159018"/>
                  <a:pt x="200625" y="155853"/>
                  <a:pt x="198587" y="153561"/>
                </a:cubicBezTo>
                <a:lnTo>
                  <a:pt x="181756" y="134625"/>
                </a:lnTo>
                <a:lnTo>
                  <a:pt x="274889" y="29850"/>
                </a:lnTo>
                <a:close/>
                <a:moveTo>
                  <a:pt x="165457" y="192851"/>
                </a:moveTo>
                <a:lnTo>
                  <a:pt x="107976" y="128186"/>
                </a:lnTo>
                <a:cubicBezTo>
                  <a:pt x="87264" y="126167"/>
                  <a:pt x="66649" y="134570"/>
                  <a:pt x="51805" y="151269"/>
                </a:cubicBezTo>
                <a:lnTo>
                  <a:pt x="47925" y="155635"/>
                </a:lnTo>
                <a:cubicBezTo>
                  <a:pt x="37108" y="167804"/>
                  <a:pt x="31044" y="184284"/>
                  <a:pt x="31044" y="201474"/>
                </a:cubicBezTo>
                <a:cubicBezTo>
                  <a:pt x="31044" y="205184"/>
                  <a:pt x="34488" y="207585"/>
                  <a:pt x="37447" y="205948"/>
                </a:cubicBezTo>
                <a:lnTo>
                  <a:pt x="62234" y="192033"/>
                </a:lnTo>
                <a:cubicBezTo>
                  <a:pt x="64660" y="190669"/>
                  <a:pt x="66843" y="194270"/>
                  <a:pt x="64854" y="196344"/>
                </a:cubicBezTo>
                <a:lnTo>
                  <a:pt x="3541" y="258336"/>
                </a:lnTo>
                <a:cubicBezTo>
                  <a:pt x="1310" y="260628"/>
                  <a:pt x="0" y="263902"/>
                  <a:pt x="0" y="267340"/>
                </a:cubicBezTo>
                <a:cubicBezTo>
                  <a:pt x="0" y="273998"/>
                  <a:pt x="4802" y="279400"/>
                  <a:pt x="10720" y="279400"/>
                </a:cubicBezTo>
                <a:lnTo>
                  <a:pt x="94783" y="279400"/>
                </a:lnTo>
                <a:cubicBezTo>
                  <a:pt x="113603" y="279400"/>
                  <a:pt x="131599" y="270996"/>
                  <a:pt x="144939" y="256044"/>
                </a:cubicBezTo>
                <a:cubicBezTo>
                  <a:pt x="159782" y="239345"/>
                  <a:pt x="167203" y="216153"/>
                  <a:pt x="165457" y="192851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23495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 et standardisation des données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8000" y="279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50129" y="-10314"/>
                </a:moveTo>
                <a:cubicBezTo>
                  <a:pt x="148140" y="-14679"/>
                  <a:pt x="144114" y="-17462"/>
                  <a:pt x="139749" y="-17462"/>
                </a:cubicBezTo>
                <a:cubicBezTo>
                  <a:pt x="135383" y="-17462"/>
                  <a:pt x="131357" y="-14679"/>
                  <a:pt x="129368" y="-10314"/>
                </a:cubicBezTo>
                <a:lnTo>
                  <a:pt x="93667" y="68377"/>
                </a:lnTo>
                <a:lnTo>
                  <a:pt x="16104" y="82237"/>
                </a:lnTo>
                <a:cubicBezTo>
                  <a:pt x="11787" y="83001"/>
                  <a:pt x="8198" y="86439"/>
                  <a:pt x="6839" y="91132"/>
                </a:cubicBezTo>
                <a:cubicBezTo>
                  <a:pt x="5481" y="95825"/>
                  <a:pt x="6597" y="100955"/>
                  <a:pt x="9653" y="104448"/>
                </a:cubicBezTo>
                <a:lnTo>
                  <a:pt x="65145" y="166931"/>
                </a:lnTo>
                <a:lnTo>
                  <a:pt x="52921" y="254189"/>
                </a:lnTo>
                <a:cubicBezTo>
                  <a:pt x="52242" y="259045"/>
                  <a:pt x="54037" y="263957"/>
                  <a:pt x="57578" y="266849"/>
                </a:cubicBezTo>
                <a:cubicBezTo>
                  <a:pt x="61119" y="269741"/>
                  <a:pt x="65775" y="270178"/>
                  <a:pt x="69704" y="267940"/>
                </a:cubicBezTo>
                <a:lnTo>
                  <a:pt x="139749" y="227886"/>
                </a:lnTo>
                <a:lnTo>
                  <a:pt x="209744" y="267940"/>
                </a:lnTo>
                <a:cubicBezTo>
                  <a:pt x="213625" y="270178"/>
                  <a:pt x="218330" y="269741"/>
                  <a:pt x="221871" y="266849"/>
                </a:cubicBezTo>
                <a:cubicBezTo>
                  <a:pt x="225412" y="263957"/>
                  <a:pt x="227207" y="259100"/>
                  <a:pt x="226527" y="254189"/>
                </a:cubicBezTo>
                <a:lnTo>
                  <a:pt x="214255" y="166931"/>
                </a:lnTo>
                <a:lnTo>
                  <a:pt x="269747" y="104448"/>
                </a:lnTo>
                <a:cubicBezTo>
                  <a:pt x="272852" y="100955"/>
                  <a:pt x="273919" y="95825"/>
                  <a:pt x="272561" y="91132"/>
                </a:cubicBezTo>
                <a:cubicBezTo>
                  <a:pt x="271202" y="86439"/>
                  <a:pt x="267661" y="83001"/>
                  <a:pt x="263296" y="82237"/>
                </a:cubicBezTo>
                <a:lnTo>
                  <a:pt x="185782" y="68377"/>
                </a:lnTo>
                <a:lnTo>
                  <a:pt x="150129" y="-10314"/>
                </a:ln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27559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Warehouse en étoile (Star Schema)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8000" y="3200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34925" y="25266"/>
                  <a:pt x="27121" y="17463"/>
                  <a:pt x="17463" y="17463"/>
                </a:cubicBezTo>
                <a:cubicBezTo>
                  <a:pt x="7804" y="17463"/>
                  <a:pt x="0" y="25266"/>
                  <a:pt x="0" y="34925"/>
                </a:cubicBezTo>
                <a:lnTo>
                  <a:pt x="0" y="218281"/>
                </a:lnTo>
                <a:cubicBezTo>
                  <a:pt x="0" y="242401"/>
                  <a:pt x="19536" y="261938"/>
                  <a:pt x="43656" y="261938"/>
                </a:cubicBezTo>
                <a:lnTo>
                  <a:pt x="261938" y="261938"/>
                </a:lnTo>
                <a:cubicBezTo>
                  <a:pt x="271596" y="261938"/>
                  <a:pt x="279400" y="254134"/>
                  <a:pt x="279400" y="244475"/>
                </a:cubicBezTo>
                <a:cubicBezTo>
                  <a:pt x="279400" y="234816"/>
                  <a:pt x="271596" y="227013"/>
                  <a:pt x="261938" y="227013"/>
                </a:cubicBezTo>
                <a:lnTo>
                  <a:pt x="43656" y="227013"/>
                </a:lnTo>
                <a:cubicBezTo>
                  <a:pt x="38854" y="227013"/>
                  <a:pt x="34925" y="223083"/>
                  <a:pt x="34925" y="218281"/>
                </a:cubicBezTo>
                <a:lnTo>
                  <a:pt x="34925" y="34925"/>
                </a:lnTo>
                <a:close/>
                <a:moveTo>
                  <a:pt x="256808" y="82183"/>
                </a:moveTo>
                <a:cubicBezTo>
                  <a:pt x="263629" y="75362"/>
                  <a:pt x="263629" y="64284"/>
                  <a:pt x="256808" y="57463"/>
                </a:cubicBezTo>
                <a:cubicBezTo>
                  <a:pt x="249987" y="50641"/>
                  <a:pt x="238909" y="50641"/>
                  <a:pt x="232088" y="57463"/>
                </a:cubicBezTo>
                <a:lnTo>
                  <a:pt x="174625" y="114980"/>
                </a:lnTo>
                <a:lnTo>
                  <a:pt x="143302" y="83711"/>
                </a:lnTo>
                <a:cubicBezTo>
                  <a:pt x="136480" y="76890"/>
                  <a:pt x="125403" y="76890"/>
                  <a:pt x="118581" y="83711"/>
                </a:cubicBezTo>
                <a:lnTo>
                  <a:pt x="66194" y="136098"/>
                </a:lnTo>
                <a:cubicBezTo>
                  <a:pt x="59373" y="142920"/>
                  <a:pt x="59373" y="153997"/>
                  <a:pt x="66194" y="160819"/>
                </a:cubicBezTo>
                <a:cubicBezTo>
                  <a:pt x="73015" y="167640"/>
                  <a:pt x="84093" y="167640"/>
                  <a:pt x="90914" y="160819"/>
                </a:cubicBezTo>
                <a:lnTo>
                  <a:pt x="130969" y="120764"/>
                </a:lnTo>
                <a:lnTo>
                  <a:pt x="162292" y="152087"/>
                </a:lnTo>
                <a:cubicBezTo>
                  <a:pt x="169113" y="158909"/>
                  <a:pt x="180191" y="158909"/>
                  <a:pt x="187012" y="152087"/>
                </a:cubicBezTo>
                <a:lnTo>
                  <a:pt x="256862" y="82237"/>
                </a:ln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9000" y="31623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multidimensionnelle des ventes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28000" y="3606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8731"/>
                </a:moveTo>
                <a:cubicBezTo>
                  <a:pt x="164758" y="8731"/>
                  <a:pt x="185103" y="34161"/>
                  <a:pt x="185103" y="65484"/>
                </a:cubicBezTo>
                <a:cubicBezTo>
                  <a:pt x="185103" y="96807"/>
                  <a:pt x="164758" y="122238"/>
                  <a:pt x="139700" y="122238"/>
                </a:cubicBezTo>
                <a:cubicBezTo>
                  <a:pt x="114642" y="122238"/>
                  <a:pt x="94298" y="96807"/>
                  <a:pt x="94298" y="65484"/>
                </a:cubicBezTo>
                <a:cubicBezTo>
                  <a:pt x="94298" y="34161"/>
                  <a:pt x="114642" y="8731"/>
                  <a:pt x="139700" y="8731"/>
                </a:cubicBezTo>
                <a:close/>
                <a:moveTo>
                  <a:pt x="41910" y="48022"/>
                </a:moveTo>
                <a:cubicBezTo>
                  <a:pt x="59258" y="48022"/>
                  <a:pt x="73343" y="65627"/>
                  <a:pt x="73343" y="87313"/>
                </a:cubicBezTo>
                <a:cubicBezTo>
                  <a:pt x="73343" y="108998"/>
                  <a:pt x="59258" y="126603"/>
                  <a:pt x="41910" y="126603"/>
                </a:cubicBezTo>
                <a:cubicBezTo>
                  <a:pt x="24562" y="126603"/>
                  <a:pt x="10478" y="108998"/>
                  <a:pt x="10478" y="87313"/>
                </a:cubicBezTo>
                <a:cubicBezTo>
                  <a:pt x="10478" y="65627"/>
                  <a:pt x="24562" y="48022"/>
                  <a:pt x="41910" y="48022"/>
                </a:cubicBezTo>
                <a:close/>
                <a:moveTo>
                  <a:pt x="0" y="227013"/>
                </a:moveTo>
                <a:cubicBezTo>
                  <a:pt x="0" y="188431"/>
                  <a:pt x="25015" y="157163"/>
                  <a:pt x="55880" y="157163"/>
                </a:cubicBezTo>
                <a:cubicBezTo>
                  <a:pt x="61468" y="157163"/>
                  <a:pt x="66881" y="158199"/>
                  <a:pt x="71989" y="160109"/>
                </a:cubicBezTo>
                <a:cubicBezTo>
                  <a:pt x="57626" y="180191"/>
                  <a:pt x="48895" y="206712"/>
                  <a:pt x="48895" y="235744"/>
                </a:cubicBezTo>
                <a:lnTo>
                  <a:pt x="48895" y="244475"/>
                </a:lnTo>
                <a:cubicBezTo>
                  <a:pt x="48895" y="250696"/>
                  <a:pt x="49943" y="256590"/>
                  <a:pt x="51820" y="261938"/>
                </a:cubicBezTo>
                <a:lnTo>
                  <a:pt x="13970" y="261938"/>
                </a:lnTo>
                <a:cubicBezTo>
                  <a:pt x="6243" y="261938"/>
                  <a:pt x="0" y="254134"/>
                  <a:pt x="0" y="244475"/>
                </a:cubicBezTo>
                <a:lnTo>
                  <a:pt x="0" y="227013"/>
                </a:lnTo>
                <a:close/>
                <a:moveTo>
                  <a:pt x="227580" y="261938"/>
                </a:moveTo>
                <a:cubicBezTo>
                  <a:pt x="229457" y="256590"/>
                  <a:pt x="230505" y="250696"/>
                  <a:pt x="230505" y="244475"/>
                </a:cubicBezTo>
                <a:lnTo>
                  <a:pt x="230505" y="235744"/>
                </a:lnTo>
                <a:cubicBezTo>
                  <a:pt x="230505" y="206712"/>
                  <a:pt x="221774" y="180191"/>
                  <a:pt x="207411" y="160109"/>
                </a:cubicBezTo>
                <a:cubicBezTo>
                  <a:pt x="212519" y="158199"/>
                  <a:pt x="217932" y="157163"/>
                  <a:pt x="223520" y="157163"/>
                </a:cubicBezTo>
                <a:cubicBezTo>
                  <a:pt x="254385" y="157163"/>
                  <a:pt x="279400" y="188431"/>
                  <a:pt x="279400" y="227013"/>
                </a:cubicBezTo>
                <a:lnTo>
                  <a:pt x="279400" y="244475"/>
                </a:lnTo>
                <a:cubicBezTo>
                  <a:pt x="279400" y="254134"/>
                  <a:pt x="273157" y="261938"/>
                  <a:pt x="265430" y="261938"/>
                </a:cubicBezTo>
                <a:lnTo>
                  <a:pt x="227580" y="261938"/>
                </a:lnTo>
                <a:close/>
                <a:moveTo>
                  <a:pt x="206058" y="87313"/>
                </a:moveTo>
                <a:cubicBezTo>
                  <a:pt x="206058" y="65627"/>
                  <a:pt x="220142" y="48022"/>
                  <a:pt x="237490" y="48022"/>
                </a:cubicBezTo>
                <a:cubicBezTo>
                  <a:pt x="254838" y="48022"/>
                  <a:pt x="268923" y="65627"/>
                  <a:pt x="268923" y="87312"/>
                </a:cubicBezTo>
                <a:cubicBezTo>
                  <a:pt x="268923" y="108998"/>
                  <a:pt x="254838" y="126603"/>
                  <a:pt x="237490" y="126603"/>
                </a:cubicBezTo>
                <a:cubicBezTo>
                  <a:pt x="220142" y="126603"/>
                  <a:pt x="206058" y="108998"/>
                  <a:pt x="206058" y="87313"/>
                </a:cubicBezTo>
                <a:close/>
                <a:moveTo>
                  <a:pt x="69850" y="235744"/>
                </a:moveTo>
                <a:cubicBezTo>
                  <a:pt x="69850" y="187504"/>
                  <a:pt x="101108" y="148431"/>
                  <a:pt x="139700" y="148431"/>
                </a:cubicBezTo>
                <a:cubicBezTo>
                  <a:pt x="178292" y="148431"/>
                  <a:pt x="209550" y="187504"/>
                  <a:pt x="209550" y="235744"/>
                </a:cubicBezTo>
                <a:lnTo>
                  <a:pt x="209550" y="244475"/>
                </a:lnTo>
                <a:cubicBezTo>
                  <a:pt x="209550" y="254134"/>
                  <a:pt x="203307" y="261938"/>
                  <a:pt x="195580" y="261938"/>
                </a:cubicBezTo>
                <a:lnTo>
                  <a:pt x="83820" y="261938"/>
                </a:lnTo>
                <a:cubicBezTo>
                  <a:pt x="76093" y="261938"/>
                  <a:pt x="69850" y="254134"/>
                  <a:pt x="69850" y="244475"/>
                </a:cubicBezTo>
                <a:lnTo>
                  <a:pt x="69850" y="235744"/>
                </a:ln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9000" y="35687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Segmentation RFM clients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28000" y="4013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13115" y="209550"/>
                </a:moveTo>
                <a:cubicBezTo>
                  <a:pt x="218427" y="197381"/>
                  <a:pt x="229050" y="186358"/>
                  <a:pt x="241055" y="176862"/>
                </a:cubicBezTo>
                <a:cubicBezTo>
                  <a:pt x="264848" y="158090"/>
                  <a:pt x="279400" y="132715"/>
                  <a:pt x="279400" y="104775"/>
                </a:cubicBezTo>
                <a:cubicBezTo>
                  <a:pt x="279400" y="46930"/>
                  <a:pt x="216826" y="0"/>
                  <a:pt x="139700" y="0"/>
                </a:cubicBezTo>
                <a:cubicBezTo>
                  <a:pt x="62574" y="0"/>
                  <a:pt x="0" y="46930"/>
                  <a:pt x="0" y="104775"/>
                </a:cubicBezTo>
                <a:cubicBezTo>
                  <a:pt x="0" y="132715"/>
                  <a:pt x="14552" y="158090"/>
                  <a:pt x="38345" y="176862"/>
                </a:cubicBezTo>
                <a:cubicBezTo>
                  <a:pt x="50350" y="186358"/>
                  <a:pt x="61046" y="197381"/>
                  <a:pt x="66285" y="209550"/>
                </a:cubicBezTo>
                <a:lnTo>
                  <a:pt x="213042" y="209550"/>
                </a:lnTo>
                <a:close/>
                <a:moveTo>
                  <a:pt x="209550" y="235744"/>
                </a:moveTo>
                <a:lnTo>
                  <a:pt x="69850" y="235744"/>
                </a:lnTo>
                <a:lnTo>
                  <a:pt x="69850" y="244475"/>
                </a:lnTo>
                <a:cubicBezTo>
                  <a:pt x="69850" y="268595"/>
                  <a:pt x="95898" y="288131"/>
                  <a:pt x="128058" y="288131"/>
                </a:cubicBezTo>
                <a:lnTo>
                  <a:pt x="151342" y="288131"/>
                </a:lnTo>
                <a:cubicBezTo>
                  <a:pt x="183502" y="288131"/>
                  <a:pt x="209550" y="268595"/>
                  <a:pt x="209550" y="244475"/>
                </a:cubicBezTo>
                <a:lnTo>
                  <a:pt x="209550" y="235744"/>
                </a:lnTo>
                <a:close/>
                <a:moveTo>
                  <a:pt x="133879" y="61119"/>
                </a:moveTo>
                <a:cubicBezTo>
                  <a:pt x="104921" y="61119"/>
                  <a:pt x="81492" y="78690"/>
                  <a:pt x="81492" y="100409"/>
                </a:cubicBezTo>
                <a:cubicBezTo>
                  <a:pt x="81492" y="107667"/>
                  <a:pt x="73706" y="113506"/>
                  <a:pt x="64029" y="113506"/>
                </a:cubicBezTo>
                <a:cubicBezTo>
                  <a:pt x="54352" y="113506"/>
                  <a:pt x="46567" y="107667"/>
                  <a:pt x="46567" y="100409"/>
                </a:cubicBezTo>
                <a:cubicBezTo>
                  <a:pt x="46567" y="64229"/>
                  <a:pt x="85639" y="34925"/>
                  <a:pt x="133879" y="34925"/>
                </a:cubicBezTo>
                <a:cubicBezTo>
                  <a:pt x="143556" y="34925"/>
                  <a:pt x="151342" y="40764"/>
                  <a:pt x="151342" y="48022"/>
                </a:cubicBezTo>
                <a:cubicBezTo>
                  <a:pt x="151342" y="55280"/>
                  <a:pt x="143556" y="61119"/>
                  <a:pt x="133879" y="61119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9000" y="39751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 stratégiques chiffrées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2000" y="4699000"/>
            <a:ext cx="14732000" cy="7620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1524000" y="4826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central :</a:t>
            </a:r>
            <a:r>
              <a:rPr lang="en-US" sz="16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Transformer les données brutes en </a:t>
            </a:r>
            <a:r>
              <a:rPr lang="en-US" sz="16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leviers de décision stratégiques</a:t>
            </a:r>
            <a:r>
              <a:rPr lang="en-US" sz="16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Talend + Star Schema + RFM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Méthodologie — Les 4 Phases de Ralph Kimball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87500"/>
            <a:ext cx="33655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16000" y="23495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Planification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27940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Définition des besoins métier et identification des sources de données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60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174" y="19050"/>
                </a:moveTo>
                <a:lnTo>
                  <a:pt x="254000" y="19050"/>
                </a:lnTo>
                <a:cubicBezTo>
                  <a:pt x="282019" y="19050"/>
                  <a:pt x="304800" y="36135"/>
                  <a:pt x="304800" y="571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57150"/>
                </a:lnTo>
                <a:cubicBezTo>
                  <a:pt x="0" y="36135"/>
                  <a:pt x="22781" y="19050"/>
                  <a:pt x="50800" y="19050"/>
                </a:cubicBezTo>
                <a:lnTo>
                  <a:pt x="57626" y="19050"/>
                </a:lnTo>
                <a:cubicBezTo>
                  <a:pt x="66357" y="7680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7680"/>
                  <a:pt x="247174" y="19050"/>
                </a:cubicBezTo>
                <a:close/>
                <a:moveTo>
                  <a:pt x="196850" y="66675"/>
                </a:moveTo>
                <a:cubicBezTo>
                  <a:pt x="207407" y="66675"/>
                  <a:pt x="215900" y="60305"/>
                  <a:pt x="215900" y="52388"/>
                </a:cubicBezTo>
                <a:cubicBezTo>
                  <a:pt x="215900" y="44470"/>
                  <a:pt x="207407" y="38100"/>
                  <a:pt x="196850" y="38100"/>
                </a:cubicBezTo>
                <a:lnTo>
                  <a:pt x="107950" y="38100"/>
                </a:lnTo>
                <a:cubicBezTo>
                  <a:pt x="97393" y="38100"/>
                  <a:pt x="88900" y="44470"/>
                  <a:pt x="88900" y="52388"/>
                </a:cubicBezTo>
                <a:cubicBezTo>
                  <a:pt x="88900" y="60305"/>
                  <a:pt x="97393" y="66675"/>
                  <a:pt x="107950" y="66675"/>
                </a:cubicBezTo>
                <a:lnTo>
                  <a:pt x="196850" y="66675"/>
                </a:lnTo>
                <a:close/>
                <a:moveTo>
                  <a:pt x="101600" y="152400"/>
                </a:moveTo>
                <a:cubicBezTo>
                  <a:pt x="101600" y="141886"/>
                  <a:pt x="90219" y="133350"/>
                  <a:pt x="76200" y="133350"/>
                </a:cubicBezTo>
                <a:cubicBezTo>
                  <a:pt x="62181" y="133350"/>
                  <a:pt x="50800" y="141886"/>
                  <a:pt x="50800" y="152400"/>
                </a:cubicBezTo>
                <a:cubicBezTo>
                  <a:pt x="50800" y="162914"/>
                  <a:pt x="62181" y="171450"/>
                  <a:pt x="76200" y="171450"/>
                </a:cubicBezTo>
                <a:cubicBezTo>
                  <a:pt x="90219" y="171450"/>
                  <a:pt x="101600" y="162914"/>
                  <a:pt x="101600" y="152400"/>
                </a:cubicBezTo>
                <a:close/>
                <a:moveTo>
                  <a:pt x="127000" y="152400"/>
                </a:moveTo>
                <a:cubicBezTo>
                  <a:pt x="127000" y="160318"/>
                  <a:pt x="135493" y="166688"/>
                  <a:pt x="146050" y="166688"/>
                </a:cubicBezTo>
                <a:lnTo>
                  <a:pt x="234950" y="166688"/>
                </a:lnTo>
                <a:cubicBezTo>
                  <a:pt x="245507" y="166688"/>
                  <a:pt x="254000" y="160318"/>
                  <a:pt x="254000" y="152400"/>
                </a:cubicBezTo>
                <a:cubicBezTo>
                  <a:pt x="254000" y="144482"/>
                  <a:pt x="245507" y="138113"/>
                  <a:pt x="234950" y="138113"/>
                </a:cubicBezTo>
                <a:lnTo>
                  <a:pt x="146050" y="138113"/>
                </a:lnTo>
                <a:cubicBezTo>
                  <a:pt x="135493" y="138113"/>
                  <a:pt x="127000" y="144482"/>
                  <a:pt x="127000" y="152400"/>
                </a:cubicBezTo>
                <a:close/>
                <a:moveTo>
                  <a:pt x="127000" y="228600"/>
                </a:moveTo>
                <a:cubicBezTo>
                  <a:pt x="127000" y="236518"/>
                  <a:pt x="135493" y="242888"/>
                  <a:pt x="146050" y="242888"/>
                </a:cubicBezTo>
                <a:lnTo>
                  <a:pt x="234950" y="242888"/>
                </a:lnTo>
                <a:cubicBezTo>
                  <a:pt x="245507" y="242888"/>
                  <a:pt x="254000" y="236518"/>
                  <a:pt x="254000" y="228600"/>
                </a:cubicBezTo>
                <a:cubicBezTo>
                  <a:pt x="254000" y="220682"/>
                  <a:pt x="245507" y="214313"/>
                  <a:pt x="234950" y="214313"/>
                </a:cubicBezTo>
                <a:lnTo>
                  <a:pt x="146050" y="214313"/>
                </a:lnTo>
                <a:cubicBezTo>
                  <a:pt x="135493" y="214313"/>
                  <a:pt x="127000" y="220682"/>
                  <a:pt x="127000" y="228600"/>
                </a:cubicBezTo>
                <a:close/>
                <a:moveTo>
                  <a:pt x="76200" y="247650"/>
                </a:moveTo>
                <a:cubicBezTo>
                  <a:pt x="90219" y="247650"/>
                  <a:pt x="101600" y="239114"/>
                  <a:pt x="101600" y="228600"/>
                </a:cubicBezTo>
                <a:cubicBezTo>
                  <a:pt x="101600" y="218086"/>
                  <a:pt x="90219" y="209550"/>
                  <a:pt x="76200" y="209550"/>
                </a:cubicBezTo>
                <a:cubicBezTo>
                  <a:pt x="62181" y="209550"/>
                  <a:pt x="50800" y="218086"/>
                  <a:pt x="50800" y="228600"/>
                </a:cubicBezTo>
                <a:cubicBezTo>
                  <a:pt x="50800" y="239114"/>
                  <a:pt x="62181" y="247650"/>
                  <a:pt x="76200" y="247650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4500" y="3111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62500" y="1587500"/>
            <a:ext cx="33655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65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16500" y="23495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Modèle Dimensionnel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16500" y="27940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Conception du Star Schema avec table de faits et tables de dimensions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165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23" name="Shape 21"/>
          <p:cNvSpPr/>
          <p:nvPr/>
        </p:nvSpPr>
        <p:spPr>
          <a:xfrm>
            <a:off x="8255000" y="3111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8763000" y="1587500"/>
            <a:ext cx="33655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70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017000" y="23495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ETL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17000" y="27940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Extraction, transformation et chargement des données avec Talend Open Studio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170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8072" y="125313"/>
                </a:moveTo>
                <a:cubicBezTo>
                  <a:pt x="203883" y="123349"/>
                  <a:pt x="209979" y="126802"/>
                  <a:pt x="212598" y="133529"/>
                </a:cubicBezTo>
                <a:lnTo>
                  <a:pt x="221456" y="155912"/>
                </a:lnTo>
                <a:cubicBezTo>
                  <a:pt x="226362" y="156746"/>
                  <a:pt x="231172" y="158413"/>
                  <a:pt x="235696" y="160734"/>
                </a:cubicBezTo>
                <a:lnTo>
                  <a:pt x="252365" y="146864"/>
                </a:lnTo>
                <a:cubicBezTo>
                  <a:pt x="257365" y="142696"/>
                  <a:pt x="263985" y="143530"/>
                  <a:pt x="268224" y="148828"/>
                </a:cubicBezTo>
                <a:lnTo>
                  <a:pt x="277368" y="160258"/>
                </a:lnTo>
                <a:cubicBezTo>
                  <a:pt x="281607" y="165556"/>
                  <a:pt x="282273" y="173891"/>
                  <a:pt x="278940" y="180082"/>
                </a:cubicBezTo>
                <a:lnTo>
                  <a:pt x="267843" y="200858"/>
                </a:lnTo>
                <a:cubicBezTo>
                  <a:pt x="268748" y="203656"/>
                  <a:pt x="269557" y="206573"/>
                  <a:pt x="270224" y="209610"/>
                </a:cubicBezTo>
                <a:cubicBezTo>
                  <a:pt x="270891" y="212646"/>
                  <a:pt x="271320" y="215622"/>
                  <a:pt x="271653" y="218658"/>
                </a:cubicBezTo>
                <a:lnTo>
                  <a:pt x="289608" y="229731"/>
                </a:lnTo>
                <a:cubicBezTo>
                  <a:pt x="294989" y="233065"/>
                  <a:pt x="297752" y="240685"/>
                  <a:pt x="296180" y="247888"/>
                </a:cubicBezTo>
                <a:lnTo>
                  <a:pt x="292846" y="263485"/>
                </a:lnTo>
                <a:cubicBezTo>
                  <a:pt x="291275" y="270689"/>
                  <a:pt x="285893" y="275570"/>
                  <a:pt x="279892" y="275094"/>
                </a:cubicBezTo>
                <a:lnTo>
                  <a:pt x="259890" y="273487"/>
                </a:lnTo>
                <a:cubicBezTo>
                  <a:pt x="256889" y="278309"/>
                  <a:pt x="253413" y="282773"/>
                  <a:pt x="249460" y="286583"/>
                </a:cubicBezTo>
                <a:lnTo>
                  <a:pt x="250746" y="311527"/>
                </a:lnTo>
                <a:cubicBezTo>
                  <a:pt x="251127" y="319028"/>
                  <a:pt x="247221" y="325815"/>
                  <a:pt x="241459" y="327720"/>
                </a:cubicBezTo>
                <a:lnTo>
                  <a:pt x="228981" y="331887"/>
                </a:lnTo>
                <a:cubicBezTo>
                  <a:pt x="223171" y="333851"/>
                  <a:pt x="217122" y="330398"/>
                  <a:pt x="214455" y="323671"/>
                </a:cubicBezTo>
                <a:lnTo>
                  <a:pt x="205597" y="301288"/>
                </a:lnTo>
                <a:cubicBezTo>
                  <a:pt x="200692" y="300454"/>
                  <a:pt x="195882" y="298787"/>
                  <a:pt x="191357" y="296466"/>
                </a:cubicBezTo>
                <a:lnTo>
                  <a:pt x="174689" y="310336"/>
                </a:lnTo>
                <a:cubicBezTo>
                  <a:pt x="169688" y="314504"/>
                  <a:pt x="163068" y="313670"/>
                  <a:pt x="158829" y="308372"/>
                </a:cubicBezTo>
                <a:lnTo>
                  <a:pt x="149685" y="296942"/>
                </a:lnTo>
                <a:cubicBezTo>
                  <a:pt x="145447" y="291644"/>
                  <a:pt x="144780" y="283369"/>
                  <a:pt x="148114" y="277118"/>
                </a:cubicBezTo>
                <a:lnTo>
                  <a:pt x="159210" y="256282"/>
                </a:lnTo>
                <a:cubicBezTo>
                  <a:pt x="158306" y="253484"/>
                  <a:pt x="157496" y="250567"/>
                  <a:pt x="156829" y="247531"/>
                </a:cubicBezTo>
                <a:cubicBezTo>
                  <a:pt x="156162" y="244495"/>
                  <a:pt x="155734" y="241459"/>
                  <a:pt x="155400" y="238482"/>
                </a:cubicBezTo>
                <a:lnTo>
                  <a:pt x="137446" y="227409"/>
                </a:lnTo>
                <a:cubicBezTo>
                  <a:pt x="132064" y="224076"/>
                  <a:pt x="129350" y="216456"/>
                  <a:pt x="130874" y="209252"/>
                </a:cubicBezTo>
                <a:lnTo>
                  <a:pt x="134207" y="193655"/>
                </a:lnTo>
                <a:cubicBezTo>
                  <a:pt x="135779" y="186452"/>
                  <a:pt x="141161" y="181570"/>
                  <a:pt x="147161" y="182047"/>
                </a:cubicBezTo>
                <a:lnTo>
                  <a:pt x="167116" y="183654"/>
                </a:lnTo>
                <a:cubicBezTo>
                  <a:pt x="170117" y="178832"/>
                  <a:pt x="173593" y="174367"/>
                  <a:pt x="177546" y="170557"/>
                </a:cubicBezTo>
                <a:lnTo>
                  <a:pt x="176260" y="145673"/>
                </a:lnTo>
                <a:cubicBezTo>
                  <a:pt x="175879" y="138172"/>
                  <a:pt x="179784" y="131385"/>
                  <a:pt x="185547" y="129480"/>
                </a:cubicBezTo>
                <a:lnTo>
                  <a:pt x="198025" y="125313"/>
                </a:lnTo>
                <a:close/>
                <a:moveTo>
                  <a:pt x="213550" y="202406"/>
                </a:moveTo>
                <a:cubicBezTo>
                  <a:pt x="201985" y="202423"/>
                  <a:pt x="192606" y="214173"/>
                  <a:pt x="192619" y="228630"/>
                </a:cubicBezTo>
                <a:cubicBezTo>
                  <a:pt x="192632" y="243086"/>
                  <a:pt x="202033" y="254810"/>
                  <a:pt x="213598" y="254794"/>
                </a:cubicBezTo>
                <a:cubicBezTo>
                  <a:pt x="225164" y="254777"/>
                  <a:pt x="234542" y="243027"/>
                  <a:pt x="234529" y="228570"/>
                </a:cubicBezTo>
                <a:cubicBezTo>
                  <a:pt x="234516" y="214114"/>
                  <a:pt x="225116" y="202390"/>
                  <a:pt x="213550" y="202406"/>
                </a:cubicBezTo>
                <a:close/>
                <a:moveTo>
                  <a:pt x="107109" y="-27087"/>
                </a:moveTo>
                <a:lnTo>
                  <a:pt x="119586" y="-22920"/>
                </a:lnTo>
                <a:cubicBezTo>
                  <a:pt x="125349" y="-20955"/>
                  <a:pt x="129254" y="-14168"/>
                  <a:pt x="128873" y="-6727"/>
                </a:cubicBezTo>
                <a:lnTo>
                  <a:pt x="127587" y="18157"/>
                </a:lnTo>
                <a:cubicBezTo>
                  <a:pt x="131540" y="21967"/>
                  <a:pt x="135017" y="26372"/>
                  <a:pt x="138017" y="31254"/>
                </a:cubicBezTo>
                <a:lnTo>
                  <a:pt x="158020" y="29647"/>
                </a:lnTo>
                <a:cubicBezTo>
                  <a:pt x="163973" y="29170"/>
                  <a:pt x="169402" y="34052"/>
                  <a:pt x="170974" y="41255"/>
                </a:cubicBezTo>
                <a:lnTo>
                  <a:pt x="174308" y="56852"/>
                </a:lnTo>
                <a:cubicBezTo>
                  <a:pt x="175831" y="64056"/>
                  <a:pt x="173117" y="71676"/>
                  <a:pt x="167735" y="75009"/>
                </a:cubicBezTo>
                <a:lnTo>
                  <a:pt x="149781" y="86082"/>
                </a:lnTo>
                <a:cubicBezTo>
                  <a:pt x="149447" y="89118"/>
                  <a:pt x="148971" y="92154"/>
                  <a:pt x="148352" y="95131"/>
                </a:cubicBezTo>
                <a:cubicBezTo>
                  <a:pt x="147733" y="98108"/>
                  <a:pt x="146876" y="101084"/>
                  <a:pt x="145971" y="103882"/>
                </a:cubicBezTo>
                <a:lnTo>
                  <a:pt x="157067" y="124718"/>
                </a:lnTo>
                <a:cubicBezTo>
                  <a:pt x="160401" y="130969"/>
                  <a:pt x="159734" y="139244"/>
                  <a:pt x="155496" y="144542"/>
                </a:cubicBezTo>
                <a:lnTo>
                  <a:pt x="146352" y="155972"/>
                </a:lnTo>
                <a:cubicBezTo>
                  <a:pt x="142113" y="161270"/>
                  <a:pt x="135493" y="162104"/>
                  <a:pt x="130493" y="157936"/>
                </a:cubicBezTo>
                <a:lnTo>
                  <a:pt x="113824" y="144066"/>
                </a:lnTo>
                <a:cubicBezTo>
                  <a:pt x="109299" y="146387"/>
                  <a:pt x="104489" y="148054"/>
                  <a:pt x="99584" y="148888"/>
                </a:cubicBezTo>
                <a:lnTo>
                  <a:pt x="90726" y="171271"/>
                </a:lnTo>
                <a:cubicBezTo>
                  <a:pt x="88059" y="177998"/>
                  <a:pt x="81963" y="181392"/>
                  <a:pt x="76200" y="179487"/>
                </a:cubicBezTo>
                <a:lnTo>
                  <a:pt x="63722" y="175320"/>
                </a:lnTo>
                <a:cubicBezTo>
                  <a:pt x="57912" y="173355"/>
                  <a:pt x="54054" y="166568"/>
                  <a:pt x="54435" y="159127"/>
                </a:cubicBezTo>
                <a:lnTo>
                  <a:pt x="55721" y="134183"/>
                </a:lnTo>
                <a:cubicBezTo>
                  <a:pt x="51768" y="130373"/>
                  <a:pt x="48292" y="125968"/>
                  <a:pt x="45291" y="121087"/>
                </a:cubicBezTo>
                <a:lnTo>
                  <a:pt x="25289" y="122694"/>
                </a:lnTo>
                <a:cubicBezTo>
                  <a:pt x="19336" y="123170"/>
                  <a:pt x="13907" y="118289"/>
                  <a:pt x="12335" y="111085"/>
                </a:cubicBezTo>
                <a:lnTo>
                  <a:pt x="9001" y="95488"/>
                </a:lnTo>
                <a:cubicBezTo>
                  <a:pt x="7477" y="88285"/>
                  <a:pt x="10192" y="80665"/>
                  <a:pt x="15573" y="77331"/>
                </a:cubicBezTo>
                <a:lnTo>
                  <a:pt x="33528" y="66258"/>
                </a:lnTo>
                <a:cubicBezTo>
                  <a:pt x="33861" y="63222"/>
                  <a:pt x="34338" y="60246"/>
                  <a:pt x="34957" y="57210"/>
                </a:cubicBezTo>
                <a:cubicBezTo>
                  <a:pt x="35624" y="54173"/>
                  <a:pt x="36386" y="51256"/>
                  <a:pt x="37338" y="48458"/>
                </a:cubicBezTo>
                <a:lnTo>
                  <a:pt x="26241" y="27682"/>
                </a:lnTo>
                <a:cubicBezTo>
                  <a:pt x="22908" y="21431"/>
                  <a:pt x="23574" y="13156"/>
                  <a:pt x="27813" y="7858"/>
                </a:cubicBezTo>
                <a:lnTo>
                  <a:pt x="36957" y="-3572"/>
                </a:lnTo>
                <a:cubicBezTo>
                  <a:pt x="41196" y="-8870"/>
                  <a:pt x="47815" y="-9704"/>
                  <a:pt x="52816" y="-5536"/>
                </a:cubicBezTo>
                <a:lnTo>
                  <a:pt x="69485" y="8334"/>
                </a:lnTo>
                <a:cubicBezTo>
                  <a:pt x="74009" y="6013"/>
                  <a:pt x="78819" y="4346"/>
                  <a:pt x="83725" y="3512"/>
                </a:cubicBezTo>
                <a:lnTo>
                  <a:pt x="92583" y="-18871"/>
                </a:lnTo>
                <a:cubicBezTo>
                  <a:pt x="95250" y="-25598"/>
                  <a:pt x="101298" y="-28992"/>
                  <a:pt x="107109" y="-27087"/>
                </a:cubicBezTo>
                <a:close/>
                <a:moveTo>
                  <a:pt x="91631" y="50006"/>
                </a:moveTo>
                <a:cubicBezTo>
                  <a:pt x="80065" y="50006"/>
                  <a:pt x="70676" y="61743"/>
                  <a:pt x="70676" y="76200"/>
                </a:cubicBezTo>
                <a:cubicBezTo>
                  <a:pt x="70676" y="90657"/>
                  <a:pt x="80065" y="102394"/>
                  <a:pt x="91631" y="102394"/>
                </a:cubicBezTo>
                <a:cubicBezTo>
                  <a:pt x="103196" y="102394"/>
                  <a:pt x="112585" y="90657"/>
                  <a:pt x="112585" y="76200"/>
                </a:cubicBezTo>
                <a:cubicBezTo>
                  <a:pt x="112585" y="61743"/>
                  <a:pt x="103196" y="50006"/>
                  <a:pt x="91631" y="50006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255500" y="3111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30" name="Shape 28"/>
          <p:cNvSpPr/>
          <p:nvPr/>
        </p:nvSpPr>
        <p:spPr>
          <a:xfrm>
            <a:off x="12763500" y="1587500"/>
            <a:ext cx="27305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175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3017500" y="2349500"/>
            <a:ext cx="222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017500" y="2794000"/>
            <a:ext cx="222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Exploration analytique multidimensionnelle et segmentation RFM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30175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5461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562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37" name="Text 35"/>
          <p:cNvSpPr/>
          <p:nvPr/>
        </p:nvSpPr>
        <p:spPr>
          <a:xfrm>
            <a:off x="1460500" y="5524500"/>
            <a:ext cx="1377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bottom-up itérative, orientée métier</a:t>
            </a:r>
            <a:r>
              <a:rPr lang="en-US" sz="15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chaque phase alimente la suivante dans un cycle d'amélioration continue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62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DATA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397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 en étoile, outils technologiques et infrastructure de données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Modélisation en Étoile — Star Schema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5588000" y="3302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3365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FACT_ORDERS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3784600"/>
            <a:ext cx="431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order_id | customer_id | product_id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order_date | total_amount | total_items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shipping_cost | status | payment_method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000" y="1524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15875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DIM_CUSTOMER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9000" y="1968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customer_id | full_name | email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| segment | age | gender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8000" y="2476500"/>
            <a:ext cx="1270000" cy="2095500"/>
          </a:xfrm>
          <a:prstGeom prst="straightConnector1">
            <a:avLst/>
          </a:prstGeom>
          <a:noFill/>
          <a:ln w="25400">
            <a:solidFill>
              <a:srgbClr val="78716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1430000" y="1524000"/>
            <a:ext cx="4064000" cy="1905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0" name="Text 18"/>
          <p:cNvSpPr/>
          <p:nvPr/>
        </p:nvSpPr>
        <p:spPr>
          <a:xfrm>
            <a:off x="11557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DIM_PRODUCT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57000" y="1968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product_id | product_name | category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| supplier | stock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10160000" y="2522219"/>
            <a:ext cx="1270000" cy="1668781"/>
          </a:xfrm>
          <a:prstGeom prst="straightConnector1">
            <a:avLst/>
          </a:prstGeom>
          <a:noFill/>
          <a:ln w="25400">
            <a:solidFill>
              <a:srgbClr val="78716C"/>
            </a:solidFill>
            <a:prstDash val="solid"/>
            <a:headEnd type="arrow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588000" y="6350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6413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DIM_TIME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67945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order_date | year | month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 | day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74000" y="5588000"/>
            <a:ext cx="0" cy="762000"/>
          </a:xfrm>
          <a:prstGeom prst="straightConnector1">
            <a:avLst/>
          </a:prstGeom>
          <a:noFill/>
          <a:ln w="25400">
            <a:solidFill>
              <a:srgbClr val="78716C"/>
            </a:solidFill>
            <a:prstDash val="solid"/>
            <a:headEnd type="arrow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62000" y="8128000"/>
            <a:ext cx="203200" cy="2032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041400" y="81026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de faits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1000" y="8128000"/>
            <a:ext cx="203200" cy="2032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8102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de dimension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Outils &amp; Technologies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Talend Open Studio — Composants Clés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6604000" cy="3302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Composant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Fonction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tFileInputDelimited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Lecture fichiers CSV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tMap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Transformations &amp; mapping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tFilterRow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Filtrage des données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tAggregateRow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Agrégations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tReplace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Remplacement de valeurs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tUniqRow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Déduplication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tFileOutputDelimited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Écriture CSV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tContextLoad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Chargement contexte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tAssert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Validation qualité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874000" y="1460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Talend vs Python/Pandas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74000" y="1905000"/>
          <a:ext cx="7620000" cy="2286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Critère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Talend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Python/Pandas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Productivité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Visuel, rapide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Code, flexible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Maintenabilité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Composants réutilisables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Scripts à documenter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Débogage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tAssert intégré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print/debugger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Courbe d'apprentissage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Interface intuitive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Programmation requise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762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Globale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096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18" name="Text 14"/>
          <p:cNvSpPr/>
          <p:nvPr/>
        </p:nvSpPr>
        <p:spPr>
          <a:xfrm>
            <a:off x="762000" y="609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Sources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4290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20" name="Shape 16"/>
          <p:cNvSpPr/>
          <p:nvPr/>
        </p:nvSpPr>
        <p:spPr>
          <a:xfrm>
            <a:off x="4064000" y="6096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1" name="Text 17"/>
          <p:cNvSpPr/>
          <p:nvPr/>
        </p:nvSpPr>
        <p:spPr>
          <a:xfrm>
            <a:off x="4064000" y="609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Talend ETL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7310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23" name="Shape 19"/>
          <p:cNvSpPr/>
          <p:nvPr/>
        </p:nvSpPr>
        <p:spPr>
          <a:xfrm>
            <a:off x="7366000" y="6096000"/>
            <a:ext cx="3048000" cy="635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4" name="Text 20"/>
          <p:cNvSpPr/>
          <p:nvPr/>
        </p:nvSpPr>
        <p:spPr>
          <a:xfrm>
            <a:off x="7366000" y="6096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5410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26" name="Shape 22"/>
          <p:cNvSpPr/>
          <p:nvPr/>
        </p:nvSpPr>
        <p:spPr>
          <a:xfrm>
            <a:off x="11176000" y="6096000"/>
            <a:ext cx="3048000" cy="635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7" name="Text 23"/>
          <p:cNvSpPr/>
          <p:nvPr/>
        </p:nvSpPr>
        <p:spPr>
          <a:xfrm>
            <a:off x="11176000" y="6096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Analyses &amp; RFM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62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ETL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397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sources, processus ETL et qualité des données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Sources &amp; Pipeline ETL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2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Fichiers CSV — 7 080 Enregistrements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6858000" cy="26670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Fichier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Enreg.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Anomalies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source_customers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~25%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source_products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~15%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Produits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source_orders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2 000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~12%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Commandes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source_order_items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4 500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~8%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Lignes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62000" y="4699000"/>
            <a:ext cx="6858000" cy="13970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90600" y="488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Anomalies Identifiées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90600" y="52324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70 emails dupliqués • 52 variantes de villes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12 variantes de statuts • Valeurs aberrantes/manquantes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0" y="142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ETL — 5 SubJobs Talend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128000" y="1905000"/>
            <a:ext cx="7366000" cy="5334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0" name="Text 17"/>
          <p:cNvSpPr/>
          <p:nvPr/>
        </p:nvSpPr>
        <p:spPr>
          <a:xfrm>
            <a:off x="8382000" y="1905000"/>
            <a:ext cx="685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EXTRACTION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Lecture des 4 fichiers CSV sources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1811000" y="2438400"/>
            <a:ext cx="0" cy="1905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2" name="Shape 19"/>
          <p:cNvSpPr/>
          <p:nvPr/>
        </p:nvSpPr>
        <p:spPr>
          <a:xfrm>
            <a:off x="8128000" y="2628900"/>
            <a:ext cx="7366000" cy="5334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3" name="Text 20"/>
          <p:cNvSpPr/>
          <p:nvPr/>
        </p:nvSpPr>
        <p:spPr>
          <a:xfrm>
            <a:off x="8382000" y="2628900"/>
            <a:ext cx="685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VALIDATION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Règles métier (email, téléphone, âge, prix...)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1811000" y="3162300"/>
            <a:ext cx="0" cy="1905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8128000" y="3352800"/>
            <a:ext cx="7366000" cy="533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8382000" y="3352800"/>
            <a:ext cx="685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TRANSFORMATION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Nettoyage, standardisation, déduplication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811000" y="3886200"/>
            <a:ext cx="0" cy="1905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8128000" y="4076700"/>
            <a:ext cx="7366000" cy="5334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29" name="Text 26"/>
          <p:cNvSpPr/>
          <p:nvPr/>
        </p:nvSpPr>
        <p:spPr>
          <a:xfrm>
            <a:off x="8382000" y="4076700"/>
            <a:ext cx="685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INTÉGRATION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Jointures, agrégations, intégrité référentielle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1811000" y="4610100"/>
            <a:ext cx="0" cy="1905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8128000" y="4800600"/>
            <a:ext cx="7366000" cy="5334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32" name="Text 29"/>
          <p:cNvSpPr/>
          <p:nvPr/>
        </p:nvSpPr>
        <p:spPr>
          <a:xfrm>
            <a:off x="8382000" y="4800600"/>
            <a:ext cx="685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CHARGEMENT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Alimentation du Data Warehouse Star Schema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28000" y="5588000"/>
            <a:ext cx="7366000" cy="11430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34" name="Text 31"/>
          <p:cNvSpPr/>
          <p:nvPr/>
        </p:nvSpPr>
        <p:spPr>
          <a:xfrm>
            <a:off x="8382000" y="5689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Règles Métier Appliquées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382000" y="60325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valide • Téléphone format marocain • Âge 18-80 • Prix &gt; 0 • Quantité ≥ 1 • Intégrité référentielle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Résultats du Nettoyage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8890000" cy="3937000"/>
        </p:xfrm>
        <a:graphic>
          <a:graphicData uri="http://schemas.openxmlformats.org/drawingml/2006/table">
            <a:tbl>
              <a:tblPr/>
              <a:tblGrid>
                <a:gridCol w="337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Métrique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Avant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Après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Amélioration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Doublons clients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 résolus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Emails invalides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14%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 validés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Prix négatifs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Corrigés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Statuts uniques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-50% standardisés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Villes uniques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-50% normalisées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Valeurs manquantes critiques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 complétées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0160000" y="1524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 de la Qualité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160000" y="2032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60000" y="2133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10160000" y="2819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Anomalies critiques éliminées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2954000" y="2032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54000" y="2133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7 080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12954000" y="2819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Enregistrements traités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10160000" y="3619500"/>
          <a:ext cx="53340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62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&amp; INSIGHTS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397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KPIs, analyses temporelle, géographique, produit, démographique et segmentation RFM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Clés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66675"/>
                </a:moveTo>
                <a:lnTo>
                  <a:pt x="88900" y="55563"/>
                </a:lnTo>
                <a:cubicBezTo>
                  <a:pt x="88900" y="24864"/>
                  <a:pt x="148630" y="0"/>
                  <a:pt x="222250" y="0"/>
                </a:cubicBezTo>
                <a:cubicBezTo>
                  <a:pt x="295870" y="0"/>
                  <a:pt x="355600" y="24864"/>
                  <a:pt x="355600" y="55563"/>
                </a:cubicBezTo>
                <a:lnTo>
                  <a:pt x="355600" y="66675"/>
                </a:lnTo>
                <a:cubicBezTo>
                  <a:pt x="355600" y="87928"/>
                  <a:pt x="326916" y="106402"/>
                  <a:pt x="284758" y="115778"/>
                </a:cubicBezTo>
                <a:cubicBezTo>
                  <a:pt x="283091" y="113834"/>
                  <a:pt x="281355" y="111958"/>
                  <a:pt x="279618" y="110222"/>
                </a:cubicBezTo>
                <a:cubicBezTo>
                  <a:pt x="268853" y="99596"/>
                  <a:pt x="254962" y="91539"/>
                  <a:pt x="240447" y="85566"/>
                </a:cubicBezTo>
                <a:cubicBezTo>
                  <a:pt x="211346" y="73412"/>
                  <a:pt x="173424" y="66744"/>
                  <a:pt x="133350" y="66744"/>
                </a:cubicBezTo>
                <a:cubicBezTo>
                  <a:pt x="118140" y="66744"/>
                  <a:pt x="103277" y="67717"/>
                  <a:pt x="89039" y="69592"/>
                </a:cubicBezTo>
                <a:cubicBezTo>
                  <a:pt x="88900" y="68689"/>
                  <a:pt x="88900" y="67717"/>
                  <a:pt x="88900" y="66744"/>
                </a:cubicBezTo>
                <a:close/>
                <a:moveTo>
                  <a:pt x="300038" y="245170"/>
                </a:moveTo>
                <a:lnTo>
                  <a:pt x="300038" y="213082"/>
                </a:lnTo>
                <a:cubicBezTo>
                  <a:pt x="310525" y="210374"/>
                  <a:pt x="320387" y="207179"/>
                  <a:pt x="329347" y="203428"/>
                </a:cubicBezTo>
                <a:cubicBezTo>
                  <a:pt x="338515" y="199608"/>
                  <a:pt x="347474" y="194955"/>
                  <a:pt x="355600" y="189329"/>
                </a:cubicBezTo>
                <a:lnTo>
                  <a:pt x="355600" y="200025"/>
                </a:lnTo>
                <a:cubicBezTo>
                  <a:pt x="355600" y="218638"/>
                  <a:pt x="333722" y="235099"/>
                  <a:pt x="300038" y="245170"/>
                </a:cubicBezTo>
                <a:close/>
                <a:moveTo>
                  <a:pt x="300038" y="178495"/>
                </a:moveTo>
                <a:lnTo>
                  <a:pt x="300038" y="155575"/>
                </a:lnTo>
                <a:cubicBezTo>
                  <a:pt x="300038" y="152450"/>
                  <a:pt x="299760" y="149463"/>
                  <a:pt x="299343" y="146546"/>
                </a:cubicBezTo>
                <a:cubicBezTo>
                  <a:pt x="310108" y="143837"/>
                  <a:pt x="320179" y="140573"/>
                  <a:pt x="329347" y="136684"/>
                </a:cubicBezTo>
                <a:cubicBezTo>
                  <a:pt x="338515" y="132794"/>
                  <a:pt x="347474" y="128210"/>
                  <a:pt x="355600" y="122585"/>
                </a:cubicBezTo>
                <a:lnTo>
                  <a:pt x="355600" y="133281"/>
                </a:lnTo>
                <a:cubicBezTo>
                  <a:pt x="355600" y="151894"/>
                  <a:pt x="333722" y="168354"/>
                  <a:pt x="300038" y="178425"/>
                </a:cubicBezTo>
                <a:close/>
                <a:moveTo>
                  <a:pt x="0" y="166688"/>
                </a:moveTo>
                <a:lnTo>
                  <a:pt x="0" y="155575"/>
                </a:lnTo>
                <a:cubicBezTo>
                  <a:pt x="0" y="124877"/>
                  <a:pt x="59730" y="100013"/>
                  <a:pt x="133350" y="100013"/>
                </a:cubicBezTo>
                <a:cubicBezTo>
                  <a:pt x="206970" y="100013"/>
                  <a:pt x="266700" y="124877"/>
                  <a:pt x="266700" y="155575"/>
                </a:cubicBezTo>
                <a:lnTo>
                  <a:pt x="266700" y="166688"/>
                </a:lnTo>
                <a:cubicBezTo>
                  <a:pt x="266700" y="197386"/>
                  <a:pt x="206970" y="222250"/>
                  <a:pt x="133350" y="222250"/>
                </a:cubicBezTo>
                <a:cubicBezTo>
                  <a:pt x="59730" y="222250"/>
                  <a:pt x="0" y="197386"/>
                  <a:pt x="0" y="166688"/>
                </a:cubicBezTo>
                <a:close/>
                <a:moveTo>
                  <a:pt x="266700" y="233363"/>
                </a:moveTo>
                <a:cubicBezTo>
                  <a:pt x="266700" y="264061"/>
                  <a:pt x="206970" y="288925"/>
                  <a:pt x="133350" y="288925"/>
                </a:cubicBezTo>
                <a:cubicBezTo>
                  <a:pt x="59730" y="288925"/>
                  <a:pt x="0" y="264061"/>
                  <a:pt x="0" y="233363"/>
                </a:cubicBezTo>
                <a:lnTo>
                  <a:pt x="0" y="222667"/>
                </a:lnTo>
                <a:cubicBezTo>
                  <a:pt x="8057" y="228292"/>
                  <a:pt x="17016" y="232876"/>
                  <a:pt x="26253" y="236766"/>
                </a:cubicBezTo>
                <a:cubicBezTo>
                  <a:pt x="55354" y="248920"/>
                  <a:pt x="93276" y="255588"/>
                  <a:pt x="133350" y="255588"/>
                </a:cubicBezTo>
                <a:cubicBezTo>
                  <a:pt x="173424" y="255588"/>
                  <a:pt x="211346" y="248851"/>
                  <a:pt x="240447" y="236766"/>
                </a:cubicBezTo>
                <a:cubicBezTo>
                  <a:pt x="249615" y="232946"/>
                  <a:pt x="258574" y="228292"/>
                  <a:pt x="266700" y="222667"/>
                </a:cubicBezTo>
                <a:lnTo>
                  <a:pt x="266700" y="233363"/>
                </a:lnTo>
                <a:close/>
                <a:moveTo>
                  <a:pt x="266700" y="289342"/>
                </a:moveTo>
                <a:lnTo>
                  <a:pt x="266700" y="300038"/>
                </a:lnTo>
                <a:cubicBezTo>
                  <a:pt x="266700" y="330736"/>
                  <a:pt x="206970" y="355600"/>
                  <a:pt x="133350" y="355600"/>
                </a:cubicBezTo>
                <a:cubicBezTo>
                  <a:pt x="59730" y="355600"/>
                  <a:pt x="0" y="330736"/>
                  <a:pt x="0" y="300038"/>
                </a:cubicBezTo>
                <a:lnTo>
                  <a:pt x="0" y="289342"/>
                </a:lnTo>
                <a:cubicBezTo>
                  <a:pt x="8057" y="294967"/>
                  <a:pt x="17016" y="299551"/>
                  <a:pt x="26253" y="303441"/>
                </a:cubicBezTo>
                <a:cubicBezTo>
                  <a:pt x="55354" y="315595"/>
                  <a:pt x="93276" y="322263"/>
                  <a:pt x="133350" y="322263"/>
                </a:cubicBezTo>
                <a:cubicBezTo>
                  <a:pt x="173424" y="322263"/>
                  <a:pt x="211346" y="315526"/>
                  <a:pt x="240447" y="303441"/>
                </a:cubicBezTo>
                <a:cubicBezTo>
                  <a:pt x="249615" y="299621"/>
                  <a:pt x="258574" y="294967"/>
                  <a:pt x="266700" y="28934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159000"/>
            <a:ext cx="342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86,9M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62000" y="28575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Chiffre d'affaires (MAD)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5000" y="15240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9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" y="-11112"/>
                </a:moveTo>
                <a:cubicBezTo>
                  <a:pt x="5945" y="-11112"/>
                  <a:pt x="0" y="-3681"/>
                  <a:pt x="0" y="5556"/>
                </a:cubicBezTo>
                <a:cubicBezTo>
                  <a:pt x="0" y="14794"/>
                  <a:pt x="5945" y="22225"/>
                  <a:pt x="13335" y="22225"/>
                </a:cubicBezTo>
                <a:lnTo>
                  <a:pt x="38505" y="22225"/>
                </a:lnTo>
                <a:cubicBezTo>
                  <a:pt x="40672" y="22225"/>
                  <a:pt x="42505" y="24170"/>
                  <a:pt x="42894" y="26809"/>
                </a:cubicBezTo>
                <a:lnTo>
                  <a:pt x="71842" y="225653"/>
                </a:lnTo>
                <a:cubicBezTo>
                  <a:pt x="75287" y="249406"/>
                  <a:pt x="91845" y="266700"/>
                  <a:pt x="111181" y="266700"/>
                </a:cubicBezTo>
                <a:lnTo>
                  <a:pt x="253365" y="266700"/>
                </a:lnTo>
                <a:cubicBezTo>
                  <a:pt x="260755" y="266700"/>
                  <a:pt x="266700" y="259269"/>
                  <a:pt x="266700" y="250031"/>
                </a:cubicBezTo>
                <a:cubicBezTo>
                  <a:pt x="266700" y="240794"/>
                  <a:pt x="260755" y="233363"/>
                  <a:pt x="253365" y="233363"/>
                </a:cubicBezTo>
                <a:lnTo>
                  <a:pt x="111181" y="233363"/>
                </a:lnTo>
                <a:cubicBezTo>
                  <a:pt x="104735" y="233363"/>
                  <a:pt x="99235" y="227598"/>
                  <a:pt x="98068" y="219680"/>
                </a:cubicBezTo>
                <a:lnTo>
                  <a:pt x="95234" y="200025"/>
                </a:lnTo>
                <a:lnTo>
                  <a:pt x="263922" y="200025"/>
                </a:lnTo>
                <a:cubicBezTo>
                  <a:pt x="281035" y="200025"/>
                  <a:pt x="295704" y="184815"/>
                  <a:pt x="298871" y="163770"/>
                </a:cubicBezTo>
                <a:lnTo>
                  <a:pt x="316095" y="48548"/>
                </a:lnTo>
                <a:cubicBezTo>
                  <a:pt x="318151" y="34865"/>
                  <a:pt x="309761" y="22225"/>
                  <a:pt x="298593" y="22225"/>
                </a:cubicBezTo>
                <a:lnTo>
                  <a:pt x="69286" y="22225"/>
                </a:lnTo>
                <a:lnTo>
                  <a:pt x="69064" y="20836"/>
                </a:lnTo>
                <a:cubicBezTo>
                  <a:pt x="66397" y="2361"/>
                  <a:pt x="53507" y="-11112"/>
                  <a:pt x="38449" y="-11112"/>
                </a:cubicBezTo>
                <a:lnTo>
                  <a:pt x="13335" y="-11112"/>
                </a:lnTo>
                <a:close/>
                <a:moveTo>
                  <a:pt x="115570" y="355600"/>
                </a:moveTo>
                <a:cubicBezTo>
                  <a:pt x="130290" y="355600"/>
                  <a:pt x="142240" y="340662"/>
                  <a:pt x="142240" y="322263"/>
                </a:cubicBezTo>
                <a:cubicBezTo>
                  <a:pt x="142240" y="303863"/>
                  <a:pt x="130290" y="288925"/>
                  <a:pt x="115570" y="288925"/>
                </a:cubicBezTo>
                <a:cubicBezTo>
                  <a:pt x="100850" y="288925"/>
                  <a:pt x="88900" y="303863"/>
                  <a:pt x="88900" y="322263"/>
                </a:cubicBezTo>
                <a:cubicBezTo>
                  <a:pt x="88900" y="340662"/>
                  <a:pt x="100850" y="355600"/>
                  <a:pt x="115570" y="355600"/>
                </a:cubicBezTo>
                <a:close/>
                <a:moveTo>
                  <a:pt x="240030" y="355600"/>
                </a:moveTo>
                <a:cubicBezTo>
                  <a:pt x="254750" y="355600"/>
                  <a:pt x="266700" y="340662"/>
                  <a:pt x="266700" y="322263"/>
                </a:cubicBezTo>
                <a:cubicBezTo>
                  <a:pt x="266700" y="303863"/>
                  <a:pt x="254750" y="288925"/>
                  <a:pt x="240030" y="288925"/>
                </a:cubicBezTo>
                <a:cubicBezTo>
                  <a:pt x="225310" y="288925"/>
                  <a:pt x="213360" y="303863"/>
                  <a:pt x="213360" y="322263"/>
                </a:cubicBezTo>
                <a:cubicBezTo>
                  <a:pt x="213360" y="340662"/>
                  <a:pt x="225310" y="355600"/>
                  <a:pt x="240030" y="355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445000" y="2159000"/>
            <a:ext cx="342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2 000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445000" y="28575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0" y="15240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2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965" y="1528"/>
                </a:moveTo>
                <a:cubicBezTo>
                  <a:pt x="20836" y="-1181"/>
                  <a:pt x="30096" y="-208"/>
                  <a:pt x="36671" y="4028"/>
                </a:cubicBezTo>
                <a:lnTo>
                  <a:pt x="74083" y="28059"/>
                </a:lnTo>
                <a:lnTo>
                  <a:pt x="111495" y="4028"/>
                </a:lnTo>
                <a:cubicBezTo>
                  <a:pt x="119830" y="-1320"/>
                  <a:pt x="132146" y="-1320"/>
                  <a:pt x="140388" y="4028"/>
                </a:cubicBezTo>
                <a:lnTo>
                  <a:pt x="177800" y="28059"/>
                </a:lnTo>
                <a:lnTo>
                  <a:pt x="215212" y="4028"/>
                </a:lnTo>
                <a:cubicBezTo>
                  <a:pt x="223546" y="-1320"/>
                  <a:pt x="235770" y="-1320"/>
                  <a:pt x="244105" y="4028"/>
                </a:cubicBezTo>
                <a:lnTo>
                  <a:pt x="281517" y="28059"/>
                </a:lnTo>
                <a:lnTo>
                  <a:pt x="318929" y="4028"/>
                </a:lnTo>
                <a:cubicBezTo>
                  <a:pt x="325504" y="-208"/>
                  <a:pt x="334764" y="-1181"/>
                  <a:pt x="342635" y="1528"/>
                </a:cubicBezTo>
                <a:cubicBezTo>
                  <a:pt x="350507" y="4237"/>
                  <a:pt x="355600" y="10140"/>
                  <a:pt x="355600" y="16669"/>
                </a:cubicBezTo>
                <a:lnTo>
                  <a:pt x="355600" y="338931"/>
                </a:lnTo>
                <a:cubicBezTo>
                  <a:pt x="355600" y="345460"/>
                  <a:pt x="350507" y="351363"/>
                  <a:pt x="342635" y="354072"/>
                </a:cubicBezTo>
                <a:cubicBezTo>
                  <a:pt x="334764" y="356781"/>
                  <a:pt x="325504" y="355808"/>
                  <a:pt x="318929" y="351572"/>
                </a:cubicBezTo>
                <a:lnTo>
                  <a:pt x="281517" y="327541"/>
                </a:lnTo>
                <a:lnTo>
                  <a:pt x="244105" y="351572"/>
                </a:lnTo>
                <a:cubicBezTo>
                  <a:pt x="235770" y="356920"/>
                  <a:pt x="223546" y="356920"/>
                  <a:pt x="215212" y="351572"/>
                </a:cubicBezTo>
                <a:lnTo>
                  <a:pt x="177800" y="327541"/>
                </a:lnTo>
                <a:lnTo>
                  <a:pt x="140388" y="351572"/>
                </a:lnTo>
                <a:cubicBezTo>
                  <a:pt x="132054" y="356920"/>
                  <a:pt x="119737" y="356920"/>
                  <a:pt x="111495" y="351572"/>
                </a:cubicBezTo>
                <a:lnTo>
                  <a:pt x="74083" y="327541"/>
                </a:lnTo>
                <a:lnTo>
                  <a:pt x="36671" y="351572"/>
                </a:lnTo>
                <a:cubicBezTo>
                  <a:pt x="30096" y="355808"/>
                  <a:pt x="20836" y="356781"/>
                  <a:pt x="12965" y="354072"/>
                </a:cubicBezTo>
                <a:cubicBezTo>
                  <a:pt x="5093" y="351363"/>
                  <a:pt x="0" y="345460"/>
                  <a:pt x="0" y="338931"/>
                </a:cubicBezTo>
                <a:lnTo>
                  <a:pt x="0" y="16669"/>
                </a:lnTo>
                <a:cubicBezTo>
                  <a:pt x="0" y="10140"/>
                  <a:pt x="5093" y="4237"/>
                  <a:pt x="12965" y="1528"/>
                </a:cubicBezTo>
                <a:close/>
                <a:moveTo>
                  <a:pt x="96308" y="94456"/>
                </a:moveTo>
                <a:cubicBezTo>
                  <a:pt x="83992" y="94456"/>
                  <a:pt x="74083" y="101888"/>
                  <a:pt x="74083" y="111125"/>
                </a:cubicBezTo>
                <a:cubicBezTo>
                  <a:pt x="74083" y="120362"/>
                  <a:pt x="83992" y="127794"/>
                  <a:pt x="96308" y="127794"/>
                </a:cubicBezTo>
                <a:lnTo>
                  <a:pt x="259292" y="127794"/>
                </a:lnTo>
                <a:cubicBezTo>
                  <a:pt x="271608" y="127794"/>
                  <a:pt x="281517" y="120362"/>
                  <a:pt x="281517" y="111125"/>
                </a:cubicBezTo>
                <a:cubicBezTo>
                  <a:pt x="281517" y="101888"/>
                  <a:pt x="271608" y="94456"/>
                  <a:pt x="259292" y="94456"/>
                </a:cubicBezTo>
                <a:lnTo>
                  <a:pt x="96308" y="94456"/>
                </a:lnTo>
                <a:close/>
                <a:moveTo>
                  <a:pt x="74083" y="244475"/>
                </a:moveTo>
                <a:cubicBezTo>
                  <a:pt x="74083" y="253712"/>
                  <a:pt x="83992" y="261144"/>
                  <a:pt x="96308" y="261144"/>
                </a:cubicBezTo>
                <a:lnTo>
                  <a:pt x="259292" y="261144"/>
                </a:lnTo>
                <a:cubicBezTo>
                  <a:pt x="271608" y="261144"/>
                  <a:pt x="281517" y="253712"/>
                  <a:pt x="281517" y="244475"/>
                </a:cubicBezTo>
                <a:cubicBezTo>
                  <a:pt x="281517" y="235238"/>
                  <a:pt x="271608" y="227806"/>
                  <a:pt x="259292" y="227806"/>
                </a:cubicBezTo>
                <a:lnTo>
                  <a:pt x="96308" y="227806"/>
                </a:lnTo>
                <a:cubicBezTo>
                  <a:pt x="83992" y="227806"/>
                  <a:pt x="74083" y="235238"/>
                  <a:pt x="74083" y="244475"/>
                </a:cubicBezTo>
                <a:close/>
                <a:moveTo>
                  <a:pt x="96308" y="161131"/>
                </a:moveTo>
                <a:cubicBezTo>
                  <a:pt x="83992" y="161131"/>
                  <a:pt x="74083" y="168563"/>
                  <a:pt x="74083" y="177800"/>
                </a:cubicBezTo>
                <a:cubicBezTo>
                  <a:pt x="74083" y="187037"/>
                  <a:pt x="83992" y="194469"/>
                  <a:pt x="96308" y="194469"/>
                </a:cubicBezTo>
                <a:lnTo>
                  <a:pt x="259292" y="194469"/>
                </a:lnTo>
                <a:cubicBezTo>
                  <a:pt x="271608" y="194469"/>
                  <a:pt x="281517" y="187037"/>
                  <a:pt x="281517" y="177800"/>
                </a:cubicBezTo>
                <a:cubicBezTo>
                  <a:pt x="281517" y="168563"/>
                  <a:pt x="271608" y="161131"/>
                  <a:pt x="259292" y="161131"/>
                </a:cubicBezTo>
                <a:lnTo>
                  <a:pt x="96308" y="16113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128000" y="2159000"/>
            <a:ext cx="342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43 450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128000" y="28575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Panier moyen (MAD)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11000" y="1524000"/>
            <a:ext cx="3683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65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0" y="2159000"/>
            <a:ext cx="368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1811000" y="2857500"/>
            <a:ext cx="368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actifs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3937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60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45720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12,5%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762000" y="5270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Taux d'annulation (cible : &lt; 8%)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3937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690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817" y="44450"/>
                </a:moveTo>
                <a:cubicBezTo>
                  <a:pt x="14817" y="19933"/>
                  <a:pt x="41394" y="0"/>
                  <a:pt x="74083" y="0"/>
                </a:cubicBezTo>
                <a:lnTo>
                  <a:pt x="281517" y="0"/>
                </a:lnTo>
                <a:cubicBezTo>
                  <a:pt x="314206" y="0"/>
                  <a:pt x="340783" y="19933"/>
                  <a:pt x="340783" y="44450"/>
                </a:cubicBezTo>
                <a:lnTo>
                  <a:pt x="340783" y="311150"/>
                </a:lnTo>
                <a:cubicBezTo>
                  <a:pt x="340783" y="335667"/>
                  <a:pt x="314206" y="355600"/>
                  <a:pt x="281517" y="355600"/>
                </a:cubicBezTo>
                <a:lnTo>
                  <a:pt x="74083" y="355600"/>
                </a:lnTo>
                <a:cubicBezTo>
                  <a:pt x="41394" y="355600"/>
                  <a:pt x="14817" y="335667"/>
                  <a:pt x="14817" y="311150"/>
                </a:cubicBezTo>
                <a:lnTo>
                  <a:pt x="14817" y="44450"/>
                </a:lnTo>
                <a:close/>
                <a:moveTo>
                  <a:pt x="74083" y="44450"/>
                </a:moveTo>
                <a:lnTo>
                  <a:pt x="74083" y="255587"/>
                </a:lnTo>
                <a:lnTo>
                  <a:pt x="281517" y="255587"/>
                </a:lnTo>
                <a:lnTo>
                  <a:pt x="281517" y="44450"/>
                </a:lnTo>
                <a:lnTo>
                  <a:pt x="74083" y="44450"/>
                </a:lnTo>
                <a:close/>
                <a:moveTo>
                  <a:pt x="177800" y="327819"/>
                </a:moveTo>
                <a:cubicBezTo>
                  <a:pt x="194191" y="327819"/>
                  <a:pt x="207433" y="317887"/>
                  <a:pt x="207433" y="305594"/>
                </a:cubicBezTo>
                <a:cubicBezTo>
                  <a:pt x="207433" y="293301"/>
                  <a:pt x="194191" y="283369"/>
                  <a:pt x="177800" y="283369"/>
                </a:cubicBezTo>
                <a:cubicBezTo>
                  <a:pt x="161409" y="283369"/>
                  <a:pt x="148167" y="293301"/>
                  <a:pt x="148167" y="305594"/>
                </a:cubicBezTo>
                <a:cubicBezTo>
                  <a:pt x="148167" y="317887"/>
                  <a:pt x="161409" y="327819"/>
                  <a:pt x="177800" y="3278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45720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Smartphones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5715000" y="5270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catégorie (28% du CA)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668000" y="39370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220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8000" y="4572000"/>
            <a:ext cx="482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+2,98%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10668000" y="5270500"/>
            <a:ext cx="482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Croissance mensuelle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2000" y="6350000"/>
            <a:ext cx="14732000" cy="7620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6000" y="654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1145" y="142875"/>
                </a:moveTo>
                <a:lnTo>
                  <a:pt x="178012" y="142875"/>
                </a:lnTo>
                <a:cubicBezTo>
                  <a:pt x="168645" y="142875"/>
                  <a:pt x="161078" y="134362"/>
                  <a:pt x="161078" y="123825"/>
                </a:cubicBezTo>
                <a:lnTo>
                  <a:pt x="161078" y="19050"/>
                </a:lnTo>
                <a:cubicBezTo>
                  <a:pt x="161078" y="8513"/>
                  <a:pt x="168698" y="-119"/>
                  <a:pt x="177959" y="1250"/>
                </a:cubicBezTo>
                <a:cubicBezTo>
                  <a:pt x="234580" y="9704"/>
                  <a:pt x="279453" y="60186"/>
                  <a:pt x="286967" y="123885"/>
                </a:cubicBezTo>
                <a:cubicBezTo>
                  <a:pt x="288184" y="134303"/>
                  <a:pt x="280511" y="142875"/>
                  <a:pt x="271145" y="142875"/>
                </a:cubicBezTo>
                <a:close/>
                <a:moveTo>
                  <a:pt x="117792" y="22146"/>
                </a:moveTo>
                <a:cubicBezTo>
                  <a:pt x="127370" y="19883"/>
                  <a:pt x="135678" y="28694"/>
                  <a:pt x="135678" y="39707"/>
                </a:cubicBezTo>
                <a:lnTo>
                  <a:pt x="135678" y="157163"/>
                </a:lnTo>
                <a:cubicBezTo>
                  <a:pt x="135678" y="160496"/>
                  <a:pt x="136737" y="163711"/>
                  <a:pt x="138589" y="166271"/>
                </a:cubicBezTo>
                <a:lnTo>
                  <a:pt x="208492" y="261164"/>
                </a:lnTo>
                <a:cubicBezTo>
                  <a:pt x="214683" y="269558"/>
                  <a:pt x="213360" y="282238"/>
                  <a:pt x="204840" y="287417"/>
                </a:cubicBezTo>
                <a:cubicBezTo>
                  <a:pt x="186796" y="298490"/>
                  <a:pt x="166105" y="304800"/>
                  <a:pt x="144145" y="304800"/>
                </a:cubicBezTo>
                <a:cubicBezTo>
                  <a:pt x="74030" y="304800"/>
                  <a:pt x="17145" y="240804"/>
                  <a:pt x="17145" y="161925"/>
                </a:cubicBezTo>
                <a:cubicBezTo>
                  <a:pt x="17145" y="93166"/>
                  <a:pt x="60272" y="35778"/>
                  <a:pt x="117792" y="22146"/>
                </a:cubicBezTo>
                <a:close/>
                <a:moveTo>
                  <a:pt x="252836" y="171450"/>
                </a:moveTo>
                <a:lnTo>
                  <a:pt x="286702" y="171450"/>
                </a:lnTo>
                <a:cubicBezTo>
                  <a:pt x="296492" y="171450"/>
                  <a:pt x="304324" y="180796"/>
                  <a:pt x="302313" y="191572"/>
                </a:cubicBezTo>
                <a:cubicBezTo>
                  <a:pt x="296915" y="220385"/>
                  <a:pt x="283792" y="245983"/>
                  <a:pt x="265483" y="265509"/>
                </a:cubicBezTo>
                <a:cubicBezTo>
                  <a:pt x="258974" y="272475"/>
                  <a:pt x="248761" y="270986"/>
                  <a:pt x="243046" y="263188"/>
                </a:cubicBezTo>
                <a:lnTo>
                  <a:pt x="198385" y="202644"/>
                </a:lnTo>
                <a:cubicBezTo>
                  <a:pt x="189230" y="190202"/>
                  <a:pt x="197115" y="171450"/>
                  <a:pt x="211402" y="171450"/>
                </a:cubicBezTo>
                <a:lnTo>
                  <a:pt x="252783" y="171450"/>
                </a:lnTo>
                <a:close/>
              </a:path>
            </a:pathLst>
          </a:custGeom>
          <a:solidFill>
            <a:srgbClr val="0F4C4F"/>
          </a:solidFill>
          <a:ln/>
        </p:spPr>
      </p:sp>
      <p:sp>
        <p:nvSpPr>
          <p:cNvPr id="42" name="Text 40"/>
          <p:cNvSpPr/>
          <p:nvPr/>
        </p:nvSpPr>
        <p:spPr>
          <a:xfrm>
            <a:off x="1460500" y="6477000"/>
            <a:ext cx="1377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 clé :</a:t>
            </a:r>
            <a:r>
              <a:rPr lang="en-US" sz="16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 taux d'annulation de 12,5% représente une perte estimée de </a:t>
            </a:r>
            <a:r>
              <a:rPr lang="en-US" sz="16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~11M MAD</a:t>
            </a:r>
            <a:r>
              <a:rPr lang="en-US" sz="16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CA — priorité stratégique #1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Temporelle &amp; Géographique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3716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Évolution du CA Mensuel (Jan 2024 — Juin 2025)</a:t>
            </a:r>
            <a:endParaRPr lang="en-US" sz="18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62000" y="1778000"/>
          <a:ext cx="7874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762000" y="5207000"/>
            <a:ext cx="7874000" cy="6985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15" name="Text 12"/>
          <p:cNvSpPr/>
          <p:nvPr/>
        </p:nvSpPr>
        <p:spPr>
          <a:xfrm>
            <a:off x="990600" y="52705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Saisonnalité forte T4 et T1</a:t>
            </a:r>
            <a:r>
              <a:rPr lang="en-US" sz="13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pics durant Black Friday, fêtes de fin d'année et Ramadan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0" y="137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Villes par Chiffre d'Affaires</a:t>
            </a:r>
            <a:endParaRPr lang="en-US" sz="18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9144000" y="1778000"/>
          <a:ext cx="6350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9144000" y="5207000"/>
            <a:ext cx="6350000" cy="6985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19" name="Text 15"/>
          <p:cNvSpPr/>
          <p:nvPr/>
        </p:nvSpPr>
        <p:spPr>
          <a:xfrm>
            <a:off x="9372600" y="52705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Casablanca = 35% du CA total</a:t>
            </a:r>
            <a:r>
              <a:rPr lang="en-US" sz="1300" dirty="0">
                <a:solidFill>
                  <a:srgbClr val="0F4C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concentration géographique forte, opportunité d'expansion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Produit, Paiement &amp; Démographie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37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 par Catégorie (MAD M)</a:t>
            </a:r>
            <a:endParaRPr lang="en-US" sz="18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62000" y="1752600"/>
          <a:ext cx="4826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1816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Panier moyen : </a:t>
            </a:r>
            <a:r>
              <a:rPr lang="en-US" sz="13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Laptops 75 330 MAD</a:t>
            </a:r>
            <a:r>
              <a:rPr lang="en-US" sz="13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r>
              <a:rPr lang="en-US" sz="13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Montres 32 081 MAD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96000" y="13716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Méthodes de Paiement</a:t>
            </a:r>
            <a:endParaRPr lang="en-US" sz="18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6096000" y="1752600"/>
          <a:ext cx="4699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6096000" y="51816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 on Delivery = 13,6%</a:t>
            </a:r>
            <a:r>
              <a:rPr lang="en-US" sz="13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confiance en ligne limitée au Maroc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176000" y="1371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Profil Démographique</a:t>
            </a:r>
            <a:endParaRPr lang="en-US" sz="18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11176000" y="1778000"/>
          <a:ext cx="4318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Shape 15"/>
          <p:cNvSpPr/>
          <p:nvPr/>
        </p:nvSpPr>
        <p:spPr>
          <a:xfrm>
            <a:off x="11176000" y="4191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E7F1F0"/>
          </a:solidFill>
          <a:ln/>
        </p:spPr>
      </p:sp>
      <p:sp>
        <p:nvSpPr>
          <p:cNvPr id="21" name="Text 16"/>
          <p:cNvSpPr/>
          <p:nvPr/>
        </p:nvSpPr>
        <p:spPr>
          <a:xfrm>
            <a:off x="11366500" y="4318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Âge moyen : 41,5 ans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 démographique : </a:t>
            </a:r>
            <a:r>
              <a:rPr lang="en-US" sz="14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25-45 ans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le plus dépensier : </a:t>
            </a:r>
            <a:r>
              <a:rPr lang="en-US" sz="14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35-50 ans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 RFM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12" name="Chart 0"/>
          <p:cNvGraphicFramePr/>
          <p:nvPr/>
        </p:nvGraphicFramePr>
        <p:xfrm>
          <a:off x="762000" y="1460500"/>
          <a:ext cx="5334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7000" y="1460500"/>
          <a:ext cx="9017000" cy="4318000"/>
        </p:xfrm>
        <a:graphic>
          <a:graphicData uri="http://schemas.openxmlformats.org/drawingml/2006/table">
            <a:tbl>
              <a:tblPr/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Segment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Action Recommandée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Champions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17%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Fidélisation premium, programme VIP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Clients fidèles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Parrainage, offres exclusives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Gros dépensiers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Upselling, produits haut de gamme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Clients récents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19%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Onboarding, welcome series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Clients en risque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Campagnes de réactivation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74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Clients perdus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Enquêtes satisfaction, offres agressives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Stocks &amp; Recommandations Stratégiques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22400"/>
            <a:ext cx="3810000" cy="1270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6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968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ruptures | </a:t>
            </a:r>
            <a:r>
              <a:rPr lang="en-US" sz="20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r>
              <a:rPr lang="en-US" sz="20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stocks faibles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2000" y="24384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Produits nécessitant une attention immédiate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2921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Recommandations par Impact Décroissant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327400"/>
          <a:ext cx="14732000" cy="3937000"/>
        </p:xfrm>
        <a:graphic>
          <a:graphicData uri="http://schemas.openxmlformats.org/drawingml/2006/table">
            <a:tbl>
              <a:tblPr/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Recommandation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Impact / An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Application mobile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+15M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Développement app native iOS/Android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Expansion géographique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+12M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Tanger, Agadir, Oujda — nouveaux hubs logistiques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Réduction taux d'annulation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+8,7M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Confirmation SMS/WhatsApp avant expédition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Personnalisation RFM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+7,4M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Marketing ciblé par segment client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Optimisation mix produit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+6,5M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Focus accessoires (forte marge)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Fidélisation VIP (4 niveaux)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+5,2M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Programme points et récompenses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Campagnes réactivation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+4,3M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135 clients à risque/perdus ciblés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Promotion paiement en ligne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+3,1M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Remise 5% pour paiement en ligne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Gestion prédictive stocks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+2,8M MAD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C191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Anticipation des ruptures par ML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Shape 15"/>
          <p:cNvSpPr/>
          <p:nvPr/>
        </p:nvSpPr>
        <p:spPr>
          <a:xfrm>
            <a:off x="762000" y="7493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0F4C4F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7493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TOTAL ESTIMÉ : +65M MAD DE CA ADDITIONNEL / AN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62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&amp; PERSPECTIVES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5397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Limites du projet et axes d'amélioration futurs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F4C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&amp; Perspectives d'Amélioration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du Projet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1930400"/>
            <a:ext cx="6985000" cy="39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112306"/>
                </a:moveTo>
                <a:cubicBezTo>
                  <a:pt x="270170" y="117654"/>
                  <a:pt x="259568" y="121965"/>
                  <a:pt x="248529" y="125403"/>
                </a:cubicBezTo>
                <a:cubicBezTo>
                  <a:pt x="219217" y="134570"/>
                  <a:pt x="180737" y="139700"/>
                  <a:pt x="139700" y="139700"/>
                </a:cubicBezTo>
                <a:cubicBezTo>
                  <a:pt x="98663" y="139700"/>
                  <a:pt x="60121" y="134516"/>
                  <a:pt x="30871" y="125403"/>
                </a:cubicBezTo>
                <a:cubicBezTo>
                  <a:pt x="19895" y="121965"/>
                  <a:pt x="9230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62553" y="200819"/>
                  <a:pt x="139700" y="200819"/>
                </a:cubicBezTo>
                <a:cubicBezTo>
                  <a:pt x="216847" y="200819"/>
                  <a:pt x="279400" y="181283"/>
                  <a:pt x="279400" y="157163"/>
                </a:cubicBezTo>
                <a:lnTo>
                  <a:pt x="279400" y="112306"/>
                </a:lnTo>
                <a:close/>
                <a:moveTo>
                  <a:pt x="279400" y="69850"/>
                </a:moveTo>
                <a:lnTo>
                  <a:pt x="279400" y="43656"/>
                </a:lnTo>
                <a:cubicBezTo>
                  <a:pt x="279400" y="19536"/>
                  <a:pt x="216847" y="0"/>
                  <a:pt x="139700" y="0"/>
                </a:cubicBezTo>
                <a:cubicBezTo>
                  <a:pt x="62553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62553" y="113506"/>
                  <a:pt x="139700" y="113506"/>
                </a:cubicBezTo>
                <a:cubicBezTo>
                  <a:pt x="216847" y="113506"/>
                  <a:pt x="279400" y="93970"/>
                  <a:pt x="279400" y="69850"/>
                </a:cubicBezTo>
                <a:close/>
                <a:moveTo>
                  <a:pt x="248529" y="212715"/>
                </a:moveTo>
                <a:cubicBezTo>
                  <a:pt x="219279" y="221828"/>
                  <a:pt x="180799" y="227013"/>
                  <a:pt x="139700" y="227013"/>
                </a:cubicBezTo>
                <a:cubicBezTo>
                  <a:pt x="98601" y="227013"/>
                  <a:pt x="60121" y="221828"/>
                  <a:pt x="30871" y="212715"/>
                </a:cubicBezTo>
                <a:cubicBezTo>
                  <a:pt x="19895" y="209277"/>
                  <a:pt x="9230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62553" y="279400"/>
                  <a:pt x="139700" y="279400"/>
                </a:cubicBezTo>
                <a:cubicBezTo>
                  <a:pt x="216847" y="279400"/>
                  <a:pt x="279400" y="259864"/>
                  <a:pt x="279400" y="235744"/>
                </a:cubicBezTo>
                <a:lnTo>
                  <a:pt x="279400" y="199618"/>
                </a:lnTo>
                <a:cubicBezTo>
                  <a:pt x="270170" y="204966"/>
                  <a:pt x="259568" y="209277"/>
                  <a:pt x="248529" y="212715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422400" y="2095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Volumétrie limitée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Données simulées, pas de volume réel de production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16000" y="2921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46567" y="0"/>
                </a:moveTo>
                <a:cubicBezTo>
                  <a:pt x="29444" y="0"/>
                  <a:pt x="15522" y="15662"/>
                  <a:pt x="15522" y="34925"/>
                </a:cubicBezTo>
                <a:lnTo>
                  <a:pt x="15522" y="244475"/>
                </a:lnTo>
                <a:cubicBezTo>
                  <a:pt x="15522" y="263738"/>
                  <a:pt x="29444" y="279400"/>
                  <a:pt x="46567" y="279400"/>
                </a:cubicBezTo>
                <a:lnTo>
                  <a:pt x="85372" y="279400"/>
                </a:lnTo>
                <a:lnTo>
                  <a:pt x="85372" y="218281"/>
                </a:lnTo>
                <a:cubicBezTo>
                  <a:pt x="85372" y="199018"/>
                  <a:pt x="99294" y="183356"/>
                  <a:pt x="116417" y="183356"/>
                </a:cubicBezTo>
                <a:lnTo>
                  <a:pt x="201789" y="183356"/>
                </a:lnTo>
                <a:lnTo>
                  <a:pt x="201789" y="93042"/>
                </a:lnTo>
                <a:cubicBezTo>
                  <a:pt x="201789" y="83765"/>
                  <a:pt x="198539" y="74870"/>
                  <a:pt x="192718" y="68322"/>
                </a:cubicBezTo>
                <a:lnTo>
                  <a:pt x="141010" y="10205"/>
                </a:lnTo>
                <a:cubicBezTo>
                  <a:pt x="135189" y="3656"/>
                  <a:pt x="127331" y="0"/>
                  <a:pt x="119085" y="0"/>
                </a:cubicBezTo>
                <a:lnTo>
                  <a:pt x="46567" y="0"/>
                </a:lnTo>
                <a:close/>
                <a:moveTo>
                  <a:pt x="173412" y="96044"/>
                </a:moveTo>
                <a:lnTo>
                  <a:pt x="128058" y="96044"/>
                </a:lnTo>
                <a:cubicBezTo>
                  <a:pt x="121607" y="96044"/>
                  <a:pt x="116417" y="90205"/>
                  <a:pt x="116417" y="82947"/>
                </a:cubicBezTo>
                <a:lnTo>
                  <a:pt x="116417" y="31924"/>
                </a:lnTo>
                <a:lnTo>
                  <a:pt x="173412" y="96044"/>
                </a:lnTo>
                <a:close/>
                <a:moveTo>
                  <a:pt x="128058" y="207367"/>
                </a:moveTo>
                <a:cubicBezTo>
                  <a:pt x="116271" y="207367"/>
                  <a:pt x="106715" y="218118"/>
                  <a:pt x="106715" y="231378"/>
                </a:cubicBezTo>
                <a:lnTo>
                  <a:pt x="106715" y="275034"/>
                </a:lnTo>
                <a:cubicBezTo>
                  <a:pt x="106715" y="288295"/>
                  <a:pt x="116271" y="299045"/>
                  <a:pt x="128058" y="299045"/>
                </a:cubicBezTo>
                <a:lnTo>
                  <a:pt x="135819" y="299045"/>
                </a:lnTo>
                <a:cubicBezTo>
                  <a:pt x="147607" y="299045"/>
                  <a:pt x="157163" y="288295"/>
                  <a:pt x="157163" y="275034"/>
                </a:cubicBezTo>
                <a:lnTo>
                  <a:pt x="157163" y="270669"/>
                </a:lnTo>
                <a:cubicBezTo>
                  <a:pt x="157163" y="264666"/>
                  <a:pt x="152797" y="259755"/>
                  <a:pt x="147461" y="259755"/>
                </a:cubicBezTo>
                <a:cubicBezTo>
                  <a:pt x="142125" y="259755"/>
                  <a:pt x="137760" y="264666"/>
                  <a:pt x="137760" y="270669"/>
                </a:cubicBezTo>
                <a:lnTo>
                  <a:pt x="137760" y="275034"/>
                </a:lnTo>
                <a:cubicBezTo>
                  <a:pt x="137760" y="276235"/>
                  <a:pt x="136887" y="277217"/>
                  <a:pt x="135819" y="277217"/>
                </a:cubicBezTo>
                <a:lnTo>
                  <a:pt x="128058" y="277217"/>
                </a:lnTo>
                <a:cubicBezTo>
                  <a:pt x="126991" y="277217"/>
                  <a:pt x="126118" y="276235"/>
                  <a:pt x="126118" y="275034"/>
                </a:cubicBezTo>
                <a:lnTo>
                  <a:pt x="126118" y="231378"/>
                </a:lnTo>
                <a:cubicBezTo>
                  <a:pt x="126118" y="230178"/>
                  <a:pt x="126991" y="229195"/>
                  <a:pt x="128058" y="229195"/>
                </a:cubicBezTo>
                <a:lnTo>
                  <a:pt x="135819" y="229195"/>
                </a:lnTo>
                <a:cubicBezTo>
                  <a:pt x="136887" y="229195"/>
                  <a:pt x="137760" y="230178"/>
                  <a:pt x="137760" y="231378"/>
                </a:cubicBezTo>
                <a:lnTo>
                  <a:pt x="137760" y="235744"/>
                </a:lnTo>
                <a:cubicBezTo>
                  <a:pt x="137760" y="241746"/>
                  <a:pt x="142125" y="246658"/>
                  <a:pt x="147461" y="246658"/>
                </a:cubicBezTo>
                <a:cubicBezTo>
                  <a:pt x="152797" y="246658"/>
                  <a:pt x="157163" y="241746"/>
                  <a:pt x="157163" y="235744"/>
                </a:cubicBezTo>
                <a:lnTo>
                  <a:pt x="157163" y="231378"/>
                </a:lnTo>
                <a:cubicBezTo>
                  <a:pt x="157163" y="218118"/>
                  <a:pt x="147607" y="207367"/>
                  <a:pt x="135819" y="207367"/>
                </a:cubicBezTo>
                <a:lnTo>
                  <a:pt x="128058" y="207367"/>
                </a:lnTo>
                <a:close/>
                <a:moveTo>
                  <a:pt x="194028" y="207367"/>
                </a:moveTo>
                <a:cubicBezTo>
                  <a:pt x="180106" y="207367"/>
                  <a:pt x="168804" y="220082"/>
                  <a:pt x="168804" y="235744"/>
                </a:cubicBezTo>
                <a:cubicBezTo>
                  <a:pt x="168804" y="251405"/>
                  <a:pt x="180106" y="264120"/>
                  <a:pt x="194028" y="264120"/>
                </a:cubicBezTo>
                <a:cubicBezTo>
                  <a:pt x="197229" y="264120"/>
                  <a:pt x="199849" y="267067"/>
                  <a:pt x="199849" y="270669"/>
                </a:cubicBezTo>
                <a:cubicBezTo>
                  <a:pt x="199849" y="274270"/>
                  <a:pt x="197229" y="277217"/>
                  <a:pt x="194028" y="277217"/>
                </a:cubicBezTo>
                <a:lnTo>
                  <a:pt x="178506" y="277217"/>
                </a:lnTo>
                <a:cubicBezTo>
                  <a:pt x="173170" y="277217"/>
                  <a:pt x="168804" y="282129"/>
                  <a:pt x="168804" y="288131"/>
                </a:cubicBezTo>
                <a:cubicBezTo>
                  <a:pt x="168804" y="294134"/>
                  <a:pt x="173170" y="299045"/>
                  <a:pt x="178506" y="299045"/>
                </a:cubicBezTo>
                <a:lnTo>
                  <a:pt x="194028" y="299045"/>
                </a:lnTo>
                <a:cubicBezTo>
                  <a:pt x="207949" y="299045"/>
                  <a:pt x="219251" y="286330"/>
                  <a:pt x="219251" y="270669"/>
                </a:cubicBezTo>
                <a:cubicBezTo>
                  <a:pt x="219251" y="255007"/>
                  <a:pt x="207949" y="242292"/>
                  <a:pt x="194028" y="242292"/>
                </a:cubicBezTo>
                <a:cubicBezTo>
                  <a:pt x="190826" y="242292"/>
                  <a:pt x="188207" y="239345"/>
                  <a:pt x="188207" y="235744"/>
                </a:cubicBezTo>
                <a:cubicBezTo>
                  <a:pt x="188207" y="232142"/>
                  <a:pt x="190826" y="229195"/>
                  <a:pt x="194028" y="229195"/>
                </a:cubicBezTo>
                <a:lnTo>
                  <a:pt x="205669" y="229195"/>
                </a:lnTo>
                <a:cubicBezTo>
                  <a:pt x="211005" y="229195"/>
                  <a:pt x="215371" y="224284"/>
                  <a:pt x="215371" y="218281"/>
                </a:cubicBezTo>
                <a:cubicBezTo>
                  <a:pt x="215371" y="212279"/>
                  <a:pt x="211005" y="207367"/>
                  <a:pt x="205669" y="207367"/>
                </a:cubicBezTo>
                <a:lnTo>
                  <a:pt x="194028" y="207367"/>
                </a:lnTo>
                <a:close/>
                <a:moveTo>
                  <a:pt x="240594" y="207367"/>
                </a:moveTo>
                <a:cubicBezTo>
                  <a:pt x="235259" y="207367"/>
                  <a:pt x="230893" y="212279"/>
                  <a:pt x="230893" y="218281"/>
                </a:cubicBezTo>
                <a:lnTo>
                  <a:pt x="230893" y="235525"/>
                </a:lnTo>
                <a:cubicBezTo>
                  <a:pt x="230893" y="254898"/>
                  <a:pt x="235986" y="273888"/>
                  <a:pt x="245542" y="289987"/>
                </a:cubicBezTo>
                <a:lnTo>
                  <a:pt x="248016" y="294189"/>
                </a:lnTo>
                <a:cubicBezTo>
                  <a:pt x="249811" y="297244"/>
                  <a:pt x="252867" y="299045"/>
                  <a:pt x="256068" y="299045"/>
                </a:cubicBezTo>
                <a:cubicBezTo>
                  <a:pt x="259270" y="299045"/>
                  <a:pt x="262326" y="297244"/>
                  <a:pt x="264120" y="294189"/>
                </a:cubicBezTo>
                <a:lnTo>
                  <a:pt x="266594" y="289987"/>
                </a:lnTo>
                <a:cubicBezTo>
                  <a:pt x="276150" y="273834"/>
                  <a:pt x="281243" y="254898"/>
                  <a:pt x="281243" y="235525"/>
                </a:cubicBezTo>
                <a:lnTo>
                  <a:pt x="281243" y="218281"/>
                </a:lnTo>
                <a:cubicBezTo>
                  <a:pt x="281243" y="212279"/>
                  <a:pt x="276878" y="207367"/>
                  <a:pt x="271542" y="207367"/>
                </a:cubicBezTo>
                <a:cubicBezTo>
                  <a:pt x="266206" y="207367"/>
                  <a:pt x="261840" y="212279"/>
                  <a:pt x="261840" y="218281"/>
                </a:cubicBezTo>
                <a:lnTo>
                  <a:pt x="261840" y="235525"/>
                </a:lnTo>
                <a:cubicBezTo>
                  <a:pt x="261840" y="246221"/>
                  <a:pt x="259852" y="256753"/>
                  <a:pt x="256020" y="266467"/>
                </a:cubicBezTo>
                <a:cubicBezTo>
                  <a:pt x="252188" y="256753"/>
                  <a:pt x="250199" y="246221"/>
                  <a:pt x="250199" y="235525"/>
                </a:cubicBezTo>
                <a:lnTo>
                  <a:pt x="250199" y="218281"/>
                </a:lnTo>
                <a:cubicBezTo>
                  <a:pt x="250199" y="212279"/>
                  <a:pt x="245833" y="207367"/>
                  <a:pt x="240497" y="207367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422400" y="2857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CSV non viable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Fichiers plats inadaptés à la production en entreprise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000" y="368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61992" y="104775"/>
                </a:moveTo>
                <a:lnTo>
                  <a:pt x="266303" y="104775"/>
                </a:lnTo>
                <a:cubicBezTo>
                  <a:pt x="273561" y="104775"/>
                  <a:pt x="279400" y="98936"/>
                  <a:pt x="279400" y="91678"/>
                </a:cubicBezTo>
                <a:lnTo>
                  <a:pt x="279400" y="13097"/>
                </a:lnTo>
                <a:cubicBezTo>
                  <a:pt x="279400" y="7804"/>
                  <a:pt x="276235" y="3001"/>
                  <a:pt x="271324" y="982"/>
                </a:cubicBezTo>
                <a:cubicBezTo>
                  <a:pt x="266412" y="-1037"/>
                  <a:pt x="260792" y="109"/>
                  <a:pt x="257026" y="3820"/>
                </a:cubicBezTo>
                <a:lnTo>
                  <a:pt x="228813" y="32087"/>
                </a:lnTo>
                <a:cubicBezTo>
                  <a:pt x="204639" y="12060"/>
                  <a:pt x="173534" y="0"/>
                  <a:pt x="139700" y="0"/>
                </a:cubicBezTo>
                <a:cubicBezTo>
                  <a:pt x="69304" y="0"/>
                  <a:pt x="11078" y="52060"/>
                  <a:pt x="1419" y="119782"/>
                </a:cubicBezTo>
                <a:cubicBezTo>
                  <a:pt x="55" y="129332"/>
                  <a:pt x="6658" y="138172"/>
                  <a:pt x="16207" y="139536"/>
                </a:cubicBezTo>
                <a:cubicBezTo>
                  <a:pt x="25757" y="140901"/>
                  <a:pt x="34598" y="134243"/>
                  <a:pt x="35962" y="124748"/>
                </a:cubicBezTo>
                <a:cubicBezTo>
                  <a:pt x="43220" y="73943"/>
                  <a:pt x="86931" y="34925"/>
                  <a:pt x="139700" y="34925"/>
                </a:cubicBezTo>
                <a:cubicBezTo>
                  <a:pt x="163929" y="34925"/>
                  <a:pt x="186194" y="43111"/>
                  <a:pt x="203929" y="56917"/>
                </a:cubicBezTo>
                <a:lnTo>
                  <a:pt x="178445" y="82401"/>
                </a:lnTo>
                <a:cubicBezTo>
                  <a:pt x="174680" y="86167"/>
                  <a:pt x="173588" y="91787"/>
                  <a:pt x="175607" y="96699"/>
                </a:cubicBezTo>
                <a:cubicBezTo>
                  <a:pt x="177626" y="101610"/>
                  <a:pt x="182429" y="104775"/>
                  <a:pt x="187722" y="104775"/>
                </a:cubicBezTo>
                <a:lnTo>
                  <a:pt x="261992" y="104775"/>
                </a:lnTo>
                <a:close/>
                <a:moveTo>
                  <a:pt x="278036" y="159618"/>
                </a:moveTo>
                <a:cubicBezTo>
                  <a:pt x="279400" y="150068"/>
                  <a:pt x="272742" y="141228"/>
                  <a:pt x="263247" y="139864"/>
                </a:cubicBezTo>
                <a:cubicBezTo>
                  <a:pt x="253752" y="138499"/>
                  <a:pt x="244857" y="145157"/>
                  <a:pt x="243493" y="154652"/>
                </a:cubicBezTo>
                <a:cubicBezTo>
                  <a:pt x="236235" y="205403"/>
                  <a:pt x="192524" y="244420"/>
                  <a:pt x="139755" y="244420"/>
                </a:cubicBezTo>
                <a:cubicBezTo>
                  <a:pt x="115525" y="244420"/>
                  <a:pt x="93261" y="236235"/>
                  <a:pt x="75525" y="222429"/>
                </a:cubicBezTo>
                <a:lnTo>
                  <a:pt x="100955" y="196999"/>
                </a:lnTo>
                <a:cubicBezTo>
                  <a:pt x="104720" y="193233"/>
                  <a:pt x="105812" y="187613"/>
                  <a:pt x="103793" y="182701"/>
                </a:cubicBezTo>
                <a:cubicBezTo>
                  <a:pt x="101774" y="177790"/>
                  <a:pt x="96971" y="174625"/>
                  <a:pt x="91678" y="174625"/>
                </a:cubicBezTo>
                <a:lnTo>
                  <a:pt x="13097" y="174625"/>
                </a:lnTo>
                <a:cubicBezTo>
                  <a:pt x="5839" y="174625"/>
                  <a:pt x="0" y="180464"/>
                  <a:pt x="0" y="187722"/>
                </a:cubicBezTo>
                <a:lnTo>
                  <a:pt x="0" y="266303"/>
                </a:lnTo>
                <a:cubicBezTo>
                  <a:pt x="0" y="271596"/>
                  <a:pt x="3165" y="276399"/>
                  <a:pt x="8076" y="278418"/>
                </a:cubicBezTo>
                <a:cubicBezTo>
                  <a:pt x="12988" y="280437"/>
                  <a:pt x="18608" y="279291"/>
                  <a:pt x="22374" y="275580"/>
                </a:cubicBezTo>
                <a:lnTo>
                  <a:pt x="50641" y="247313"/>
                </a:lnTo>
                <a:cubicBezTo>
                  <a:pt x="74761" y="267340"/>
                  <a:pt x="105866" y="279400"/>
                  <a:pt x="139700" y="279400"/>
                </a:cubicBezTo>
                <a:cubicBezTo>
                  <a:pt x="210096" y="279400"/>
                  <a:pt x="268322" y="227340"/>
                  <a:pt x="277981" y="159618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3619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 de mise à jour incrémentale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Rechargement complet à chaque exécution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" y="4445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422400" y="4381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 de sécurité RGPD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Absence de chiffrement et contrôles d'accès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0F4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Perspectives d'Amélioration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128000" y="1930400"/>
            <a:ext cx="7366000" cy="39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20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83356"/>
                </a:moveTo>
                <a:cubicBezTo>
                  <a:pt x="0" y="226740"/>
                  <a:pt x="31287" y="261938"/>
                  <a:pt x="69850" y="261938"/>
                </a:cubicBezTo>
                <a:lnTo>
                  <a:pt x="217311" y="261938"/>
                </a:lnTo>
                <a:cubicBezTo>
                  <a:pt x="251606" y="261938"/>
                  <a:pt x="279400" y="230669"/>
                  <a:pt x="279400" y="192088"/>
                </a:cubicBezTo>
                <a:cubicBezTo>
                  <a:pt x="279400" y="163929"/>
                  <a:pt x="264605" y="139645"/>
                  <a:pt x="243262" y="128622"/>
                </a:cubicBezTo>
                <a:cubicBezTo>
                  <a:pt x="246512" y="121474"/>
                  <a:pt x="248356" y="113343"/>
                  <a:pt x="248356" y="104775"/>
                </a:cubicBezTo>
                <a:cubicBezTo>
                  <a:pt x="248356" y="75853"/>
                  <a:pt x="227498" y="52388"/>
                  <a:pt x="201789" y="52388"/>
                </a:cubicBezTo>
                <a:cubicBezTo>
                  <a:pt x="193203" y="52388"/>
                  <a:pt x="185200" y="55007"/>
                  <a:pt x="178312" y="59536"/>
                </a:cubicBezTo>
                <a:cubicBezTo>
                  <a:pt x="166621" y="34543"/>
                  <a:pt x="143290" y="17463"/>
                  <a:pt x="116417" y="17463"/>
                </a:cubicBezTo>
                <a:cubicBezTo>
                  <a:pt x="77854" y="17463"/>
                  <a:pt x="46567" y="52660"/>
                  <a:pt x="46567" y="96044"/>
                </a:cubicBezTo>
                <a:cubicBezTo>
                  <a:pt x="46567" y="100409"/>
                  <a:pt x="46906" y="104720"/>
                  <a:pt x="47488" y="108868"/>
                </a:cubicBezTo>
                <a:cubicBezTo>
                  <a:pt x="19888" y="119345"/>
                  <a:pt x="0" y="148759"/>
                  <a:pt x="0" y="18335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788400" y="2095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Migration Cloud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Talend Cloud + BigQuery pour scalabilité et performance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2000" y="2921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ubicBezTo>
                  <a:pt x="0" y="62597"/>
                  <a:pt x="62597" y="0"/>
                  <a:pt x="139700" y="0"/>
                </a:cubicBezTo>
                <a:close/>
                <a:moveTo>
                  <a:pt x="126603" y="65484"/>
                </a:moveTo>
                <a:lnTo>
                  <a:pt x="126603" y="139700"/>
                </a:lnTo>
                <a:cubicBezTo>
                  <a:pt x="126603" y="144066"/>
                  <a:pt x="128786" y="148158"/>
                  <a:pt x="132442" y="150614"/>
                </a:cubicBezTo>
                <a:lnTo>
                  <a:pt x="184830" y="185539"/>
                </a:lnTo>
                <a:cubicBezTo>
                  <a:pt x="190832" y="189577"/>
                  <a:pt x="198963" y="187940"/>
                  <a:pt x="203002" y="181883"/>
                </a:cubicBezTo>
                <a:cubicBezTo>
                  <a:pt x="207040" y="175826"/>
                  <a:pt x="205403" y="167749"/>
                  <a:pt x="199345" y="163711"/>
                </a:cubicBezTo>
                <a:lnTo>
                  <a:pt x="152797" y="132715"/>
                </a:lnTo>
                <a:lnTo>
                  <a:pt x="152797" y="65484"/>
                </a:lnTo>
                <a:cubicBezTo>
                  <a:pt x="152797" y="58227"/>
                  <a:pt x="146958" y="52388"/>
                  <a:pt x="139700" y="52388"/>
                </a:cubicBezTo>
                <a:cubicBezTo>
                  <a:pt x="132442" y="52388"/>
                  <a:pt x="126603" y="58227"/>
                  <a:pt x="126603" y="6548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788400" y="2857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 automatisé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Talend Administration Center (TAC) pour exécutions planifiées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82000" y="368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65484" y="30559"/>
                </a:moveTo>
                <a:cubicBezTo>
                  <a:pt x="65484" y="13697"/>
                  <a:pt x="79182" y="0"/>
                  <a:pt x="96044" y="0"/>
                </a:cubicBezTo>
                <a:lnTo>
                  <a:pt x="109141" y="0"/>
                </a:lnTo>
                <a:cubicBezTo>
                  <a:pt x="118800" y="0"/>
                  <a:pt x="126603" y="7804"/>
                  <a:pt x="126603" y="17463"/>
                </a:cubicBezTo>
                <a:lnTo>
                  <a:pt x="126603" y="261938"/>
                </a:lnTo>
                <a:cubicBezTo>
                  <a:pt x="126603" y="271596"/>
                  <a:pt x="118800" y="279400"/>
                  <a:pt x="109141" y="279400"/>
                </a:cubicBezTo>
                <a:lnTo>
                  <a:pt x="91678" y="279400"/>
                </a:lnTo>
                <a:cubicBezTo>
                  <a:pt x="75416" y="279400"/>
                  <a:pt x="61719" y="268268"/>
                  <a:pt x="57845" y="253206"/>
                </a:cubicBezTo>
                <a:cubicBezTo>
                  <a:pt x="57463" y="253206"/>
                  <a:pt x="57135" y="253206"/>
                  <a:pt x="56753" y="253206"/>
                </a:cubicBezTo>
                <a:cubicBezTo>
                  <a:pt x="32633" y="253206"/>
                  <a:pt x="13097" y="233670"/>
                  <a:pt x="13097" y="209550"/>
                </a:cubicBezTo>
                <a:cubicBezTo>
                  <a:pt x="13097" y="199727"/>
                  <a:pt x="16371" y="190669"/>
                  <a:pt x="21828" y="183356"/>
                </a:cubicBezTo>
                <a:cubicBezTo>
                  <a:pt x="11241" y="175389"/>
                  <a:pt x="4366" y="162729"/>
                  <a:pt x="4366" y="148431"/>
                </a:cubicBezTo>
                <a:cubicBezTo>
                  <a:pt x="4366" y="131569"/>
                  <a:pt x="13970" y="116890"/>
                  <a:pt x="27940" y="109632"/>
                </a:cubicBezTo>
                <a:cubicBezTo>
                  <a:pt x="24066" y="103083"/>
                  <a:pt x="21828" y="95443"/>
                  <a:pt x="21828" y="87313"/>
                </a:cubicBezTo>
                <a:cubicBezTo>
                  <a:pt x="21828" y="63192"/>
                  <a:pt x="41364" y="43656"/>
                  <a:pt x="65484" y="43656"/>
                </a:cubicBezTo>
                <a:lnTo>
                  <a:pt x="65484" y="30559"/>
                </a:lnTo>
                <a:close/>
                <a:moveTo>
                  <a:pt x="213916" y="30559"/>
                </a:moveTo>
                <a:lnTo>
                  <a:pt x="213916" y="43656"/>
                </a:lnTo>
                <a:cubicBezTo>
                  <a:pt x="238036" y="43656"/>
                  <a:pt x="257572" y="63192"/>
                  <a:pt x="257572" y="87313"/>
                </a:cubicBezTo>
                <a:cubicBezTo>
                  <a:pt x="257572" y="95498"/>
                  <a:pt x="255334" y="103138"/>
                  <a:pt x="251460" y="109632"/>
                </a:cubicBezTo>
                <a:cubicBezTo>
                  <a:pt x="265485" y="116890"/>
                  <a:pt x="275034" y="131514"/>
                  <a:pt x="275034" y="148431"/>
                </a:cubicBezTo>
                <a:cubicBezTo>
                  <a:pt x="275034" y="162729"/>
                  <a:pt x="268159" y="175389"/>
                  <a:pt x="257572" y="183356"/>
                </a:cubicBezTo>
                <a:cubicBezTo>
                  <a:pt x="263029" y="190669"/>
                  <a:pt x="266303" y="199727"/>
                  <a:pt x="266303" y="209550"/>
                </a:cubicBezTo>
                <a:cubicBezTo>
                  <a:pt x="266303" y="233670"/>
                  <a:pt x="246767" y="253206"/>
                  <a:pt x="222647" y="253206"/>
                </a:cubicBezTo>
                <a:cubicBezTo>
                  <a:pt x="222265" y="253206"/>
                  <a:pt x="221937" y="253206"/>
                  <a:pt x="221555" y="253206"/>
                </a:cubicBezTo>
                <a:cubicBezTo>
                  <a:pt x="217681" y="268268"/>
                  <a:pt x="203984" y="279400"/>
                  <a:pt x="187722" y="279400"/>
                </a:cubicBezTo>
                <a:lnTo>
                  <a:pt x="170259" y="279400"/>
                </a:lnTo>
                <a:cubicBezTo>
                  <a:pt x="160600" y="279400"/>
                  <a:pt x="152797" y="271596"/>
                  <a:pt x="152797" y="261938"/>
                </a:cubicBezTo>
                <a:lnTo>
                  <a:pt x="152797" y="17463"/>
                </a:lnTo>
                <a:cubicBezTo>
                  <a:pt x="152797" y="7804"/>
                  <a:pt x="160600" y="0"/>
                  <a:pt x="170259" y="0"/>
                </a:cubicBezTo>
                <a:lnTo>
                  <a:pt x="183356" y="0"/>
                </a:lnTo>
                <a:cubicBezTo>
                  <a:pt x="200218" y="0"/>
                  <a:pt x="213916" y="13697"/>
                  <a:pt x="213916" y="305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8788400" y="3619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Churn prediction et recommandations produits par IA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2000" y="4445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11296" y="-5402"/>
                </a:moveTo>
                <a:cubicBezTo>
                  <a:pt x="218718" y="-709"/>
                  <a:pt x="221462" y="7804"/>
                  <a:pt x="218094" y="15225"/>
                </a:cubicBezTo>
                <a:lnTo>
                  <a:pt x="169199" y="122238"/>
                </a:lnTo>
                <a:lnTo>
                  <a:pt x="259443" y="122238"/>
                </a:lnTo>
                <a:cubicBezTo>
                  <a:pt x="267862" y="122238"/>
                  <a:pt x="275346" y="126821"/>
                  <a:pt x="278215" y="133752"/>
                </a:cubicBezTo>
                <a:cubicBezTo>
                  <a:pt x="281084" y="140682"/>
                  <a:pt x="278652" y="148431"/>
                  <a:pt x="272228" y="153124"/>
                </a:cubicBezTo>
                <a:lnTo>
                  <a:pt x="92614" y="284093"/>
                </a:lnTo>
                <a:cubicBezTo>
                  <a:pt x="85566" y="289223"/>
                  <a:pt x="75525" y="289496"/>
                  <a:pt x="68104" y="284802"/>
                </a:cubicBezTo>
                <a:cubicBezTo>
                  <a:pt x="60682" y="280109"/>
                  <a:pt x="57938" y="271596"/>
                  <a:pt x="61306" y="264175"/>
                </a:cubicBezTo>
                <a:lnTo>
                  <a:pt x="110201" y="157163"/>
                </a:lnTo>
                <a:lnTo>
                  <a:pt x="19957" y="157163"/>
                </a:lnTo>
                <a:cubicBezTo>
                  <a:pt x="11538" y="157163"/>
                  <a:pt x="4054" y="152579"/>
                  <a:pt x="1185" y="145648"/>
                </a:cubicBezTo>
                <a:cubicBezTo>
                  <a:pt x="-1684" y="138718"/>
                  <a:pt x="748" y="130969"/>
                  <a:pt x="7172" y="126276"/>
                </a:cubicBezTo>
                <a:lnTo>
                  <a:pt x="186786" y="-4693"/>
                </a:lnTo>
                <a:cubicBezTo>
                  <a:pt x="193834" y="-9823"/>
                  <a:pt x="203875" y="-10096"/>
                  <a:pt x="211296" y="-540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788400" y="4381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Temps réel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Kafka + Talend Streaming pour ingestion en continu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382000" y="5207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17463"/>
                </a:moveTo>
                <a:cubicBezTo>
                  <a:pt x="27121" y="17463"/>
                  <a:pt x="34925" y="25266"/>
                  <a:pt x="34925" y="34925"/>
                </a:cubicBezTo>
                <a:lnTo>
                  <a:pt x="34925" y="218281"/>
                </a:lnTo>
                <a:cubicBezTo>
                  <a:pt x="34925" y="223083"/>
                  <a:pt x="38854" y="227013"/>
                  <a:pt x="43656" y="227013"/>
                </a:cubicBezTo>
                <a:lnTo>
                  <a:pt x="261938" y="227013"/>
                </a:lnTo>
                <a:cubicBezTo>
                  <a:pt x="271596" y="227013"/>
                  <a:pt x="279400" y="234816"/>
                  <a:pt x="279400" y="244475"/>
                </a:cubicBezTo>
                <a:cubicBezTo>
                  <a:pt x="279400" y="254134"/>
                  <a:pt x="271596" y="261938"/>
                  <a:pt x="261938" y="261938"/>
                </a:cubicBezTo>
                <a:lnTo>
                  <a:pt x="43656" y="261938"/>
                </a:lnTo>
                <a:cubicBezTo>
                  <a:pt x="19536" y="261938"/>
                  <a:pt x="0" y="242401"/>
                  <a:pt x="0" y="218281"/>
                </a:cubicBezTo>
                <a:lnTo>
                  <a:pt x="0" y="34925"/>
                </a:lnTo>
                <a:cubicBezTo>
                  <a:pt x="0" y="25266"/>
                  <a:pt x="7804" y="17463"/>
                  <a:pt x="17463" y="17463"/>
                </a:cubicBezTo>
                <a:close/>
                <a:moveTo>
                  <a:pt x="130969" y="52388"/>
                </a:moveTo>
                <a:cubicBezTo>
                  <a:pt x="134625" y="52388"/>
                  <a:pt x="138117" y="53915"/>
                  <a:pt x="140628" y="56644"/>
                </a:cubicBezTo>
                <a:lnTo>
                  <a:pt x="179427" y="98936"/>
                </a:lnTo>
                <a:lnTo>
                  <a:pt x="204639" y="73670"/>
                </a:lnTo>
                <a:cubicBezTo>
                  <a:pt x="209768" y="68540"/>
                  <a:pt x="218063" y="68540"/>
                  <a:pt x="223138" y="73670"/>
                </a:cubicBezTo>
                <a:lnTo>
                  <a:pt x="258063" y="108595"/>
                </a:lnTo>
                <a:cubicBezTo>
                  <a:pt x="260519" y="111051"/>
                  <a:pt x="261883" y="114379"/>
                  <a:pt x="261883" y="117872"/>
                </a:cubicBezTo>
                <a:lnTo>
                  <a:pt x="261883" y="178991"/>
                </a:lnTo>
                <a:cubicBezTo>
                  <a:pt x="261883" y="186248"/>
                  <a:pt x="256044" y="192088"/>
                  <a:pt x="248786" y="192088"/>
                </a:cubicBezTo>
                <a:lnTo>
                  <a:pt x="82892" y="192088"/>
                </a:lnTo>
                <a:cubicBezTo>
                  <a:pt x="75634" y="192088"/>
                  <a:pt x="69795" y="186248"/>
                  <a:pt x="69795" y="178991"/>
                </a:cubicBezTo>
                <a:lnTo>
                  <a:pt x="69795" y="117872"/>
                </a:lnTo>
                <a:cubicBezTo>
                  <a:pt x="69795" y="114598"/>
                  <a:pt x="71051" y="111433"/>
                  <a:pt x="73233" y="109031"/>
                </a:cubicBezTo>
                <a:lnTo>
                  <a:pt x="121255" y="56644"/>
                </a:lnTo>
                <a:cubicBezTo>
                  <a:pt x="123711" y="53915"/>
                  <a:pt x="127258" y="52388"/>
                  <a:pt x="130914" y="523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8788400" y="51435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interactif</a:t>
            </a: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Power BI / Tableau pour visualisations temps réel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0" y="0"/>
            <a:ext cx="2286000" cy="2286000"/>
          </a:xfrm>
          <a:prstGeom prst="ellipse">
            <a:avLst/>
          </a:prstGeom>
          <a:solidFill>
            <a:srgbClr val="14B8A6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620000"/>
            <a:ext cx="1524000" cy="1524000"/>
          </a:xfrm>
          <a:prstGeom prst="ellipse">
            <a:avLst/>
          </a:prstGeom>
          <a:solidFill>
            <a:srgbClr val="14B8A6">
              <a:alpha val="313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2032000" y="2540000"/>
            <a:ext cx="1219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kern="0" spc="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032000" y="3683000"/>
            <a:ext cx="1219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0" y="4445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" y="50800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5143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7 080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70000" y="574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Enregistrements traités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99000" y="50800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5143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99000" y="574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Anomalies critiques éliminées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8000" y="50800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128000" y="5143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86,9M MAD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28000" y="574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 analysé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557000" y="50800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557000" y="51435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557000" y="574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actifs segmentés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32000" y="6731000"/>
            <a:ext cx="1219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Taoufik Mammad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32000" y="7175500"/>
            <a:ext cx="1219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Cité des métiers et des compétences Nouaceur – Casablanca | Mai 2026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</Words>
  <PresentationFormat>Personnalisé</PresentationFormat>
  <Paragraphs>427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Liter</vt:lpstr>
      <vt:lpstr>Quattrocento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2026-07-02T23:46:50Z</dcterms:created>
  <dcterms:modified xsi:type="dcterms:W3CDTF">2026-07-03T08:34:25Z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{"Label":"Optimisation des Ventes et Fidélisation Client — TechMaroc BI","ContentProducer":"001191110108MACG2KBH8F10000","ProduceID":"19f252ed-08a2-8dbd-8000-000035b31c92","ReservedCode1":"","ContentPropagator":"001191110108MACG2KBH8F20000","PropagateID":"19f252c4-0402-8406-8000-09d8f5df598a","ReservedCode2":""}</vt:lpwstr>
  </property>
</Properties>
</file>